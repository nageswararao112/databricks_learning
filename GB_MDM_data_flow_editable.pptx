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F1E1D"/>
                </a:solidFill>
                <a:latin typeface="Arial"/>
              </a:rPr>
              <a:t>GB MDM side: upstream to MDM hub</a:t>
            </a:r>
          </a:p>
        </p:txBody>
      </p:sp>
      <p:sp>
        <p:nvSpPr>
          <p:cNvPr id="3" name="Upstream data"/>
          <p:cNvSpPr/>
          <p:nvPr/>
        </p:nvSpPr>
        <p:spPr>
          <a:xfrm>
            <a:off x="4861407" y="868680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Upstream data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LOB parse, REC_TYPE set</a:t>
            </a:r>
          </a:p>
        </p:txBody>
      </p:sp>
      <p:sp>
        <p:nvSpPr>
          <p:cNvPr id="4" name="Preunified customer"/>
          <p:cNvSpPr/>
          <p:nvPr/>
        </p:nvSpPr>
        <p:spPr>
          <a:xfrm>
            <a:off x="457200" y="1636776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Preunified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Mongo, rebuild unmasked</a:t>
            </a:r>
          </a:p>
        </p:txBody>
      </p:sp>
      <p:sp>
        <p:nvSpPr>
          <p:cNvPr id="5" name="Policy"/>
          <p:cNvSpPr/>
          <p:nvPr/>
        </p:nvSpPr>
        <p:spPr>
          <a:xfrm>
            <a:off x="6327648" y="1636776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Policy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Mongo collection</a:t>
            </a:r>
          </a:p>
        </p:txBody>
      </p:sp>
      <p:sp>
        <p:nvSpPr>
          <p:cNvPr id="6" name="Customer profile file"/>
          <p:cNvSpPr/>
          <p:nvPr/>
        </p:nvSpPr>
        <p:spPr>
          <a:xfrm>
            <a:off x="457200" y="2404872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Customer profile file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Spoke ingress, UNIFICATION</a:t>
            </a:r>
          </a:p>
        </p:txBody>
      </p:sp>
      <p:sp>
        <p:nvSpPr>
          <p:cNvPr id="7" name="Change feed"/>
          <p:cNvSpPr/>
          <p:nvPr/>
        </p:nvSpPr>
        <p:spPr>
          <a:xfrm>
            <a:off x="3392424" y="2404872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Change feed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Preunified + policy</a:t>
            </a:r>
          </a:p>
        </p:txBody>
      </p:sp>
      <p:sp>
        <p:nvSpPr>
          <p:cNvPr id="8" name="Policy"/>
          <p:cNvSpPr/>
          <p:nvPr/>
        </p:nvSpPr>
        <p:spPr>
          <a:xfrm>
            <a:off x="6327648" y="2404872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Policy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GB DL delta table</a:t>
            </a:r>
          </a:p>
        </p:txBody>
      </p:sp>
      <p:sp>
        <p:nvSpPr>
          <p:cNvPr id="9" name="GB spoke"/>
          <p:cNvSpPr/>
          <p:nvPr/>
        </p:nvSpPr>
        <p:spPr>
          <a:xfrm>
            <a:off x="457200" y="3172968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GB spoke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Informatica match and merge</a:t>
            </a:r>
          </a:p>
        </p:txBody>
      </p:sp>
      <p:sp>
        <p:nvSpPr>
          <p:cNvPr id="10" name="Unified customer"/>
          <p:cNvSpPr/>
          <p:nvPr/>
        </p:nvSpPr>
        <p:spPr>
          <a:xfrm>
            <a:off x="3392424" y="3172968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Unified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Mongo, masked in PLAB</a:t>
            </a:r>
          </a:p>
        </p:txBody>
      </p:sp>
      <p:sp>
        <p:nvSpPr>
          <p:cNvPr id="11" name="GB consolidated customer"/>
          <p:cNvSpPr/>
          <p:nvPr/>
        </p:nvSpPr>
        <p:spPr>
          <a:xfrm>
            <a:off x="457200" y="3941063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GB consolidated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Spoke egress parquet</a:t>
            </a:r>
          </a:p>
        </p:txBody>
      </p:sp>
      <p:sp>
        <p:nvSpPr>
          <p:cNvPr id="12" name="Mongo customer index"/>
          <p:cNvSpPr/>
          <p:nvPr/>
        </p:nvSpPr>
        <p:spPr>
          <a:xfrm>
            <a:off x="3392424" y="3941063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Mongo customer index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+ Customer API</a:t>
            </a:r>
          </a:p>
        </p:txBody>
      </p:sp>
      <p:sp>
        <p:nvSpPr>
          <p:cNvPr id="13" name="Unified customer"/>
          <p:cNvSpPr/>
          <p:nvPr/>
        </p:nvSpPr>
        <p:spPr>
          <a:xfrm>
            <a:off x="6327648" y="4709160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Unified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GB DL delta, policy join</a:t>
            </a:r>
          </a:p>
        </p:txBody>
      </p:sp>
      <p:sp>
        <p:nvSpPr>
          <p:cNvPr id="14" name="Old delta (Siva)"/>
          <p:cNvSpPr/>
          <p:nvPr/>
        </p:nvSpPr>
        <p:spPr>
          <a:xfrm>
            <a:off x="9262872" y="4709160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  <a:prstDash val="dash"/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Old delta (Siva)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Proposed uncons load</a:t>
            </a:r>
          </a:p>
        </p:txBody>
      </p:sp>
      <p:sp>
        <p:nvSpPr>
          <p:cNvPr id="15" name="Single view customer"/>
          <p:cNvSpPr/>
          <p:nvPr/>
        </p:nvSpPr>
        <p:spPr>
          <a:xfrm>
            <a:off x="3392424" y="5477256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Single view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Hub ingress file</a:t>
            </a:r>
          </a:p>
        </p:txBody>
      </p:sp>
      <p:sp>
        <p:nvSpPr>
          <p:cNvPr id="16" name="MDM hub"/>
          <p:cNvSpPr/>
          <p:nvPr/>
        </p:nvSpPr>
        <p:spPr>
          <a:xfrm>
            <a:off x="6327648" y="5477256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MDM hub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Informatica</a:t>
            </a:r>
          </a:p>
        </p:txBody>
      </p:sp>
      <p:sp>
        <p:nvSpPr>
          <p:cNvPr id="17" name="Single view transient"/>
          <p:cNvSpPr/>
          <p:nvPr/>
        </p:nvSpPr>
        <p:spPr>
          <a:xfrm>
            <a:off x="9262872" y="5477256"/>
            <a:ext cx="246888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Single view transient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Hub egress, to Ops DL</a:t>
            </a:r>
          </a:p>
        </p:txBody>
      </p:sp>
      <p:cxnSp>
        <p:nvCxnSpPr>
          <p:cNvPr id="1001" name="Connector 1001"/>
          <p:cNvCxnSpPr>
            <a:stCxn id="3" idx="2"/>
            <a:endCxn id="4" idx="0"/>
          </p:cNvCxnSpPr>
          <p:nvPr/>
        </p:nvCxnSpPr>
        <p:spPr>
          <a:xfrm rot="5400000">
            <a:off x="3784015" y="-675055"/>
            <a:ext cx="219456" cy="4404207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2" name="Connector 1002"/>
          <p:cNvCxnSpPr>
            <a:stCxn id="3" idx="2"/>
            <a:endCxn id="5" idx="0"/>
          </p:cNvCxnSpPr>
          <p:nvPr/>
        </p:nvCxnSpPr>
        <p:spPr>
          <a:xfrm rot="5400000" flipV="1">
            <a:off x="6719239" y="793927"/>
            <a:ext cx="219456" cy="1466240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3" name="Connector 1003"/>
          <p:cNvCxnSpPr>
            <a:stCxn id="4" idx="2"/>
            <a:endCxn id="6" idx="0"/>
          </p:cNvCxnSpPr>
          <p:nvPr/>
        </p:nvCxnSpPr>
        <p:spPr>
          <a:xfrm>
            <a:off x="1691640" y="2185416"/>
            <a:ext cx="0" cy="219455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4" name="Connector 1004"/>
          <p:cNvCxnSpPr>
            <a:stCxn id="5" idx="2"/>
            <a:endCxn id="8" idx="0"/>
          </p:cNvCxnSpPr>
          <p:nvPr/>
        </p:nvCxnSpPr>
        <p:spPr>
          <a:xfrm>
            <a:off x="7562088" y="2185416"/>
            <a:ext cx="0" cy="219455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5" name="Connector 1005"/>
          <p:cNvCxnSpPr>
            <a:stCxn id="4" idx="3"/>
            <a:endCxn id="7" idx="0"/>
          </p:cNvCxnSpPr>
          <p:nvPr/>
        </p:nvCxnSpPr>
        <p:spPr>
          <a:xfrm>
            <a:off x="2926080" y="1911095"/>
            <a:ext cx="1700784" cy="493776"/>
          </a:xfrm>
          <a:prstGeom prst="bentConnector2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6" name="Connector 1006"/>
          <p:cNvCxnSpPr>
            <a:stCxn id="5" idx="1"/>
            <a:endCxn id="7" idx="0"/>
          </p:cNvCxnSpPr>
          <p:nvPr/>
        </p:nvCxnSpPr>
        <p:spPr>
          <a:xfrm flipH="1">
            <a:off x="4626864" y="1911095"/>
            <a:ext cx="1700783" cy="493776"/>
          </a:xfrm>
          <a:prstGeom prst="bentConnector2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7" name="Connector 1007"/>
          <p:cNvCxnSpPr>
            <a:stCxn id="6" idx="2"/>
            <a:endCxn id="9" idx="0"/>
          </p:cNvCxnSpPr>
          <p:nvPr/>
        </p:nvCxnSpPr>
        <p:spPr>
          <a:xfrm>
            <a:off x="1691640" y="2953512"/>
            <a:ext cx="0" cy="219455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8" name="Connector 1008"/>
          <p:cNvCxnSpPr>
            <a:stCxn id="9" idx="2"/>
            <a:endCxn id="11" idx="0"/>
          </p:cNvCxnSpPr>
          <p:nvPr/>
        </p:nvCxnSpPr>
        <p:spPr>
          <a:xfrm>
            <a:off x="1691640" y="3721607"/>
            <a:ext cx="0" cy="219456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09" name="Connector 1009"/>
          <p:cNvCxnSpPr>
            <a:stCxn id="7" idx="2"/>
            <a:endCxn id="10" idx="0"/>
          </p:cNvCxnSpPr>
          <p:nvPr/>
        </p:nvCxnSpPr>
        <p:spPr>
          <a:xfrm>
            <a:off x="4626864" y="2953512"/>
            <a:ext cx="0" cy="219455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0" name="Connector 1010"/>
          <p:cNvCxnSpPr>
            <a:stCxn id="10" idx="2"/>
            <a:endCxn id="12" idx="0"/>
          </p:cNvCxnSpPr>
          <p:nvPr/>
        </p:nvCxnSpPr>
        <p:spPr>
          <a:xfrm>
            <a:off x="4626864" y="3721607"/>
            <a:ext cx="0" cy="219456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1" name="Connector 1011"/>
          <p:cNvCxnSpPr>
            <a:stCxn id="8" idx="2"/>
            <a:endCxn id="13" idx="0"/>
          </p:cNvCxnSpPr>
          <p:nvPr/>
        </p:nvCxnSpPr>
        <p:spPr>
          <a:xfrm>
            <a:off x="7562088" y="2953512"/>
            <a:ext cx="0" cy="1755648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2" name="Connector 1012"/>
          <p:cNvCxnSpPr>
            <a:stCxn id="13" idx="1"/>
            <a:endCxn id="11" idx="2"/>
          </p:cNvCxnSpPr>
          <p:nvPr/>
        </p:nvCxnSpPr>
        <p:spPr>
          <a:xfrm flipH="1" flipV="1">
            <a:off x="1691640" y="4489703"/>
            <a:ext cx="4636008" cy="493776"/>
          </a:xfrm>
          <a:prstGeom prst="bentConnector2">
            <a:avLst/>
          </a:prstGeom>
          <a:ln w="15875">
            <a:solidFill>
              <a:srgbClr val="6B6A65"/>
            </a:solidFill>
            <a:headEnd type="triangle" w="med" len="med"/>
          </a:ln>
        </p:spPr>
      </p:cxnSp>
      <p:cxnSp>
        <p:nvCxnSpPr>
          <p:cNvPr id="1013" name="Connector 1013"/>
          <p:cNvCxnSpPr>
            <a:stCxn id="14" idx="1"/>
            <a:endCxn id="13" idx="3"/>
          </p:cNvCxnSpPr>
          <p:nvPr/>
        </p:nvCxnSpPr>
        <p:spPr>
          <a:xfrm flipH="1">
            <a:off x="8796528" y="4983480"/>
            <a:ext cx="466343" cy="0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4" name="Connector 1014"/>
          <p:cNvCxnSpPr>
            <a:stCxn id="13" idx="2"/>
            <a:endCxn id="15" idx="0"/>
          </p:cNvCxnSpPr>
          <p:nvPr/>
        </p:nvCxnSpPr>
        <p:spPr>
          <a:xfrm rot="5400000">
            <a:off x="5984748" y="3899916"/>
            <a:ext cx="219456" cy="2935223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5" name="Connector 1015"/>
          <p:cNvCxnSpPr>
            <a:stCxn id="15" idx="3"/>
            <a:endCxn id="16" idx="1"/>
          </p:cNvCxnSpPr>
          <p:nvPr/>
        </p:nvCxnSpPr>
        <p:spPr>
          <a:xfrm>
            <a:off x="5861304" y="5751576"/>
            <a:ext cx="466343" cy="0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6" name="Connector 1016"/>
          <p:cNvCxnSpPr>
            <a:stCxn id="16" idx="3"/>
            <a:endCxn id="17" idx="1"/>
          </p:cNvCxnSpPr>
          <p:nvPr/>
        </p:nvCxnSpPr>
        <p:spPr>
          <a:xfrm>
            <a:off x="8796528" y="5751576"/>
            <a:ext cx="466343" cy="0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sp>
        <p:nvSpPr>
          <p:cNvPr id="1017" name="Rounded Rectangle 1016"/>
          <p:cNvSpPr/>
          <p:nvPr/>
        </p:nvSpPr>
        <p:spPr>
          <a:xfrm>
            <a:off x="457200" y="6355080"/>
            <a:ext cx="256032" cy="201168"/>
          </a:xfrm>
          <a:prstGeom prst="roundRect">
            <a:avLst/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804672" y="63367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Masked in PLAB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2560320" y="6355080"/>
            <a:ext cx="256032" cy="2011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A6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2907791" y="6336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Proposed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4480560" y="6336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All other boxes unmasked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>
                <a:solidFill>
                  <a:srgbClr val="1F1E1D"/>
                </a:solidFill>
                <a:latin typeface="Arial"/>
              </a:rPr>
              <a:t>Ops DL: three hops and the search indexes</a:t>
            </a:r>
          </a:p>
        </p:txBody>
      </p:sp>
      <p:sp>
        <p:nvSpPr>
          <p:cNvPr id="3" name="Ops DL curation"/>
          <p:cNvSpPr/>
          <p:nvPr/>
        </p:nvSpPr>
        <p:spPr>
          <a:xfrm>
            <a:off x="365760" y="1783080"/>
            <a:ext cx="11457432" cy="3108960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B4B2A9"/>
            </a:solidFill>
            <a:prstDash val="dash"/>
          </a:ln>
          <a:effectLst/>
        </p:spPr>
        <p:txBody>
          <a:bodyPr rtlCol="0" anchor="t" lIns="182880" tIns="109728"/>
          <a:lstStyle/>
          <a:p>
            <a:pPr algn="l"/>
            <a:r>
              <a:rPr sz="1100" b="1">
                <a:solidFill>
                  <a:srgbClr val="5F5E5A"/>
                </a:solidFill>
                <a:latin typeface="Arial"/>
              </a:rPr>
              <a:t>Ops DL curation</a:t>
            </a:r>
          </a:p>
        </p:txBody>
      </p:sp>
      <p:sp>
        <p:nvSpPr>
          <p:cNvPr id="4" name="Single view transient"/>
          <p:cNvSpPr/>
          <p:nvPr/>
        </p:nvSpPr>
        <p:spPr>
          <a:xfrm>
            <a:off x="4769967" y="86868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Single view transient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Hub egress file</a:t>
            </a:r>
          </a:p>
        </p:txBody>
      </p:sp>
      <p:sp>
        <p:nvSpPr>
          <p:cNvPr id="5" name="Single view table"/>
          <p:cNvSpPr/>
          <p:nvPr/>
        </p:nvSpPr>
        <p:spPr>
          <a:xfrm>
            <a:off x="4769967" y="201168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Single view table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Hop 1, drop non-survivors</a:t>
            </a:r>
          </a:p>
        </p:txBody>
      </p:sp>
      <p:sp>
        <p:nvSpPr>
          <p:cNvPr id="6" name="Consolidated customer"/>
          <p:cNvSpPr/>
          <p:nvPr/>
        </p:nvSpPr>
        <p:spPr>
          <a:xfrm>
            <a:off x="4769967" y="306324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Consolidated customer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Hop 2, all spokes</a:t>
            </a:r>
          </a:p>
        </p:txBody>
      </p:sp>
      <p:sp>
        <p:nvSpPr>
          <p:cNvPr id="7" name="Consolidated transient"/>
          <p:cNvSpPr/>
          <p:nvPr/>
        </p:nvSpPr>
        <p:spPr>
          <a:xfrm>
            <a:off x="2103120" y="411480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Consolidated transient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Hop 3, SF spokes, masked</a:t>
            </a:r>
          </a:p>
        </p:txBody>
      </p:sp>
      <p:sp>
        <p:nvSpPr>
          <p:cNvPr id="8" name="Combined dataframe"/>
          <p:cNvSpPr/>
          <p:nvPr/>
        </p:nvSpPr>
        <p:spPr>
          <a:xfrm>
            <a:off x="8988552" y="411480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  <a:prstDash val="dash"/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Combined dataframe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+ uncons + org, source TBC</a:t>
            </a:r>
          </a:p>
        </p:txBody>
      </p:sp>
      <p:sp>
        <p:nvSpPr>
          <p:cNvPr id="9" name="Salesforce"/>
          <p:cNvSpPr/>
          <p:nvPr/>
        </p:nvSpPr>
        <p:spPr>
          <a:xfrm>
            <a:off x="548640" y="530352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Salesforce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SF spokes only</a:t>
            </a:r>
          </a:p>
        </p:txBody>
      </p:sp>
      <p:sp>
        <p:nvSpPr>
          <p:cNvPr id="10" name="AI search index"/>
          <p:cNvSpPr/>
          <p:nvPr/>
        </p:nvSpPr>
        <p:spPr>
          <a:xfrm>
            <a:off x="3657600" y="530352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AI search index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Existing</a:t>
            </a:r>
          </a:p>
        </p:txBody>
      </p:sp>
      <p:sp>
        <p:nvSpPr>
          <p:cNvPr id="11" name="Unified search index"/>
          <p:cNvSpPr/>
          <p:nvPr/>
        </p:nvSpPr>
        <p:spPr>
          <a:xfrm>
            <a:off x="8988552" y="5303520"/>
            <a:ext cx="265176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6B6A65"/>
            </a:solidFill>
            <a:prstDash val="dash"/>
          </a:ln>
          <a:effectLst/>
        </p:spPr>
        <p:txBody>
          <a:bodyPr rtlCol="0" anchor="ctr" wrap="square" lIns="73152" rIns="73152" tIns="27432" bIns="27432"/>
          <a:lstStyle/>
          <a:p>
            <a:pPr algn="ctr"/>
            <a:r>
              <a:rPr sz="1250" b="1">
                <a:solidFill>
                  <a:srgbClr val="1F1E1D"/>
                </a:solidFill>
                <a:latin typeface="Arial"/>
              </a:rPr>
              <a:t>Unified search index</a:t>
            </a:r>
          </a:p>
          <a:p>
            <a:pPr algn="ctr"/>
            <a:r>
              <a:rPr sz="1000">
                <a:solidFill>
                  <a:srgbClr val="5F5E5A"/>
                </a:solidFill>
                <a:latin typeface="Arial"/>
              </a:rPr>
              <a:t>Proposed, includes GB</a:t>
            </a:r>
          </a:p>
        </p:txBody>
      </p:sp>
      <p:cxnSp>
        <p:nvCxnSpPr>
          <p:cNvPr id="1017" name="Connector 1017"/>
          <p:cNvCxnSpPr>
            <a:stCxn id="4" idx="2"/>
            <a:endCxn id="5" idx="0"/>
          </p:cNvCxnSpPr>
          <p:nvPr/>
        </p:nvCxnSpPr>
        <p:spPr>
          <a:xfrm>
            <a:off x="6095847" y="1508760"/>
            <a:ext cx="0" cy="502920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8" name="Connector 1018"/>
          <p:cNvCxnSpPr>
            <a:stCxn id="5" idx="2"/>
            <a:endCxn id="6" idx="0"/>
          </p:cNvCxnSpPr>
          <p:nvPr/>
        </p:nvCxnSpPr>
        <p:spPr>
          <a:xfrm>
            <a:off x="6095847" y="2651760"/>
            <a:ext cx="0" cy="411479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19" name="Connector 1019"/>
          <p:cNvCxnSpPr>
            <a:stCxn id="6" idx="2"/>
            <a:endCxn id="7" idx="0"/>
          </p:cNvCxnSpPr>
          <p:nvPr/>
        </p:nvCxnSpPr>
        <p:spPr>
          <a:xfrm rot="5400000">
            <a:off x="4556683" y="2575636"/>
            <a:ext cx="411480" cy="2666847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20" name="Connector 1020"/>
          <p:cNvCxnSpPr>
            <a:stCxn id="6" idx="2"/>
            <a:endCxn id="8" idx="0"/>
          </p:cNvCxnSpPr>
          <p:nvPr/>
        </p:nvCxnSpPr>
        <p:spPr>
          <a:xfrm rot="5400000" flipV="1">
            <a:off x="7999399" y="1799767"/>
            <a:ext cx="411480" cy="4218584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21" name="Connector 1021"/>
          <p:cNvCxnSpPr>
            <a:stCxn id="7" idx="2"/>
            <a:endCxn id="9" idx="0"/>
          </p:cNvCxnSpPr>
          <p:nvPr/>
        </p:nvCxnSpPr>
        <p:spPr>
          <a:xfrm rot="5400000">
            <a:off x="2377440" y="4251960"/>
            <a:ext cx="548639" cy="1554480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22" name="Connector 1022"/>
          <p:cNvCxnSpPr>
            <a:stCxn id="7" idx="2"/>
            <a:endCxn id="10" idx="0"/>
          </p:cNvCxnSpPr>
          <p:nvPr/>
        </p:nvCxnSpPr>
        <p:spPr>
          <a:xfrm rot="5400000" flipV="1">
            <a:off x="3931920" y="4251960"/>
            <a:ext cx="548639" cy="1554480"/>
          </a:xfrm>
          <a:prstGeom prst="bentConnector3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cxnSp>
        <p:nvCxnSpPr>
          <p:cNvPr id="1023" name="Connector 1023"/>
          <p:cNvCxnSpPr>
            <a:stCxn id="8" idx="2"/>
            <a:endCxn id="11" idx="0"/>
          </p:cNvCxnSpPr>
          <p:nvPr/>
        </p:nvCxnSpPr>
        <p:spPr>
          <a:xfrm>
            <a:off x="10314432" y="4754880"/>
            <a:ext cx="0" cy="548639"/>
          </a:xfrm>
          <a:prstGeom prst="straightConnector1">
            <a:avLst/>
          </a:prstGeom>
          <a:ln w="15875">
            <a:solidFill>
              <a:srgbClr val="6B6A65"/>
            </a:solidFill>
            <a:tailEnd type="triangle" w="med" len="med"/>
          </a:ln>
        </p:spPr>
      </p:cxnSp>
      <p:sp>
        <p:nvSpPr>
          <p:cNvPr id="1024" name="Rounded Rectangle 1023"/>
          <p:cNvSpPr/>
          <p:nvPr/>
        </p:nvSpPr>
        <p:spPr>
          <a:xfrm>
            <a:off x="457200" y="6355080"/>
            <a:ext cx="256032" cy="201168"/>
          </a:xfrm>
          <a:prstGeom prst="roundRect">
            <a:avLst/>
          </a:prstGeom>
          <a:solidFill>
            <a:srgbClr val="FBEEDB"/>
          </a:solidFill>
          <a:ln w="25400">
            <a:solidFill>
              <a:srgbClr val="B26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TextBox 1024"/>
          <p:cNvSpPr txBox="1"/>
          <p:nvPr/>
        </p:nvSpPr>
        <p:spPr>
          <a:xfrm>
            <a:off x="804672" y="63367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Masked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2560320" y="6355080"/>
            <a:ext cx="256032" cy="2011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6A6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TextBox 1026"/>
          <p:cNvSpPr txBox="1"/>
          <p:nvPr/>
        </p:nvSpPr>
        <p:spPr>
          <a:xfrm>
            <a:off x="2907791" y="63367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Proposed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4480560" y="633679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>
                <a:solidFill>
                  <a:srgbClr val="5F5E5A"/>
                </a:solidFill>
                <a:latin typeface="Arial"/>
              </a:rPr>
              <a:t>All other boxes unmasked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