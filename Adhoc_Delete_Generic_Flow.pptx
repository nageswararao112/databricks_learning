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flow, the same for the hub and every spoke. The hub layer runs first; spoke layers run only if the hub succeeds. Delete-only records skip the refresh table and do not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C2C2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Ad hoc delete &amp; refresh – how it works</a:t>
            </a:r>
            <a:endParaRPr lang="en-US" sz="2600" dirty="0"/>
          </a:p>
        </p:txBody>
      </p:sp>
      <p:sp>
        <p:nvSpPr>
          <p:cNvPr id="3" name="phase 1"/>
          <p:cNvSpPr/>
          <p:nvPr/>
        </p:nvSpPr>
        <p:spPr>
          <a:xfrm>
            <a:off x="457200" y="98755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87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 DQM request</a:t>
            </a:r>
            <a:endParaRPr lang="en-US" sz="1300" dirty="0"/>
          </a:p>
        </p:txBody>
      </p:sp>
      <p:sp>
        <p:nvSpPr>
          <p:cNvPr id="5" name="connector 3"/>
          <p:cNvSpPr/>
          <p:nvPr/>
        </p:nvSpPr>
        <p:spPr>
          <a:xfrm>
            <a:off x="3099816" y="1179576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" name="phase 4"/>
          <p:cNvSpPr/>
          <p:nvPr/>
        </p:nvSpPr>
        <p:spPr>
          <a:xfrm>
            <a:off x="3346704" y="98755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46704" y="987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 Data lake delete</a:t>
            </a:r>
            <a:endParaRPr lang="en-US" sz="1300" dirty="0"/>
          </a:p>
        </p:txBody>
      </p:sp>
      <p:sp>
        <p:nvSpPr>
          <p:cNvPr id="8" name="connector 6"/>
          <p:cNvSpPr/>
          <p:nvPr/>
        </p:nvSpPr>
        <p:spPr>
          <a:xfrm>
            <a:off x="5989320" y="1179576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9" name="divider 7"/>
          <p:cNvSpPr/>
          <p:nvPr/>
        </p:nvSpPr>
        <p:spPr>
          <a:xfrm>
            <a:off x="3204972" y="1554480"/>
            <a:ext cx="0" cy="466344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0" name="phase 8"/>
          <p:cNvSpPr/>
          <p:nvPr/>
        </p:nvSpPr>
        <p:spPr>
          <a:xfrm>
            <a:off x="6236208" y="98755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987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 Informatica delete</a:t>
            </a:r>
            <a:endParaRPr lang="en-US" sz="1300" dirty="0"/>
          </a:p>
        </p:txBody>
      </p:sp>
      <p:sp>
        <p:nvSpPr>
          <p:cNvPr id="12" name="connector 10"/>
          <p:cNvSpPr/>
          <p:nvPr/>
        </p:nvSpPr>
        <p:spPr>
          <a:xfrm>
            <a:off x="8878824" y="1179576"/>
            <a:ext cx="2103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3" name="divider 11"/>
          <p:cNvSpPr/>
          <p:nvPr/>
        </p:nvSpPr>
        <p:spPr>
          <a:xfrm>
            <a:off x="6094476" y="1554480"/>
            <a:ext cx="0" cy="466344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4" name="phase 12"/>
          <p:cNvSpPr/>
          <p:nvPr/>
        </p:nvSpPr>
        <p:spPr>
          <a:xfrm>
            <a:off x="9125712" y="98755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987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 Refresh &amp; validate</a:t>
            </a:r>
            <a:endParaRPr lang="en-US" sz="1300" dirty="0"/>
          </a:p>
        </p:txBody>
      </p:sp>
      <p:sp>
        <p:nvSpPr>
          <p:cNvPr id="16" name="divider 14"/>
          <p:cNvSpPr/>
          <p:nvPr/>
        </p:nvSpPr>
        <p:spPr>
          <a:xfrm>
            <a:off x="8983980" y="1554480"/>
            <a:ext cx="0" cy="4663440"/>
          </a:xfrm>
          <a:prstGeom prst="line">
            <a:avLst/>
          </a:prstGeom>
          <a:noFill/>
          <a:ln w="9525">
            <a:solidFill>
              <a:srgbClr val="E5E3DC"/>
            </a:solidFill>
            <a:prstDash val="dash"/>
          </a:ln>
        </p:spPr>
      </p:sp>
      <p:sp>
        <p:nvSpPr>
          <p:cNvPr id="17" name="node 15"/>
          <p:cNvSpPr/>
          <p:nvPr/>
        </p:nvSpPr>
        <p:spPr>
          <a:xfrm>
            <a:off x="457200" y="1627632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1627632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Identify records to fix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Duplicates · wrong merges · move to unconsolidated</a:t>
            </a:r>
            <a:endParaRPr lang="en-US" sz="1150" dirty="0"/>
          </a:p>
        </p:txBody>
      </p:sp>
      <p:sp>
        <p:nvSpPr>
          <p:cNvPr id="19" name="connector 17"/>
          <p:cNvSpPr/>
          <p:nvPr/>
        </p:nvSpPr>
        <p:spPr>
          <a:xfrm>
            <a:off x="1760220" y="2231136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GB outline 18"/>
          <p:cNvSpPr/>
          <p:nvPr/>
        </p:nvSpPr>
        <p:spPr>
          <a:xfrm>
            <a:off x="393192" y="2404872"/>
            <a:ext cx="2734056" cy="731520"/>
          </a:xfrm>
          <a:prstGeom prst="roundRect">
            <a:avLst>
              <a:gd name="adj" fmla="val 11250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21" name="node 19"/>
          <p:cNvSpPr/>
          <p:nvPr/>
        </p:nvSpPr>
        <p:spPr>
          <a:xfrm>
            <a:off x="457200" y="2468880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2468880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Load EIDs into ad hoc delete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EID · source system code · process date</a:t>
            </a:r>
            <a:endParaRPr lang="en-US" sz="1150" dirty="0"/>
          </a:p>
        </p:txBody>
      </p:sp>
      <p:sp>
        <p:nvSpPr>
          <p:cNvPr id="23" name="GB tag 21"/>
          <p:cNvSpPr/>
          <p:nvPr/>
        </p:nvSpPr>
        <p:spPr>
          <a:xfrm>
            <a:off x="2679192" y="23134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79192" y="2313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GB</a:t>
            </a:r>
            <a:endParaRPr lang="en-US" sz="850" dirty="0"/>
          </a:p>
        </p:txBody>
      </p:sp>
      <p:sp>
        <p:nvSpPr>
          <p:cNvPr id="25" name="connector 23"/>
          <p:cNvSpPr/>
          <p:nvPr/>
        </p:nvSpPr>
        <p:spPr>
          <a:xfrm>
            <a:off x="1760220" y="3072384"/>
            <a:ext cx="0" cy="21945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6" name="node 24"/>
          <p:cNvSpPr/>
          <p:nvPr/>
        </p:nvSpPr>
        <p:spPr>
          <a:xfrm>
            <a:off x="891540" y="3310128"/>
            <a:ext cx="1737360" cy="786384"/>
          </a:xfrm>
          <a:prstGeom prst="diamond">
            <a:avLst>
              <a:gd name="adj" fmla="val 697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65860" y="331012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3806"/>
                </a:solidFill>
              </a:rPr>
              <a:t>Should it come back?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815084" y="4105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Yes</a:t>
            </a:r>
            <a:endParaRPr lang="en-US" sz="950" dirty="0"/>
          </a:p>
        </p:txBody>
      </p:sp>
      <p:sp>
        <p:nvSpPr>
          <p:cNvPr id="29" name="connector 27"/>
          <p:cNvSpPr/>
          <p:nvPr/>
        </p:nvSpPr>
        <p:spPr>
          <a:xfrm>
            <a:off x="1760220" y="4096512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0" name="connector 28"/>
          <p:cNvSpPr/>
          <p:nvPr/>
        </p:nvSpPr>
        <p:spPr>
          <a:xfrm>
            <a:off x="2628900" y="3703320"/>
            <a:ext cx="32461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65476" y="3483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No</a:t>
            </a:r>
            <a:endParaRPr lang="en-US" sz="950" dirty="0"/>
          </a:p>
        </p:txBody>
      </p:sp>
      <p:sp>
        <p:nvSpPr>
          <p:cNvPr id="32" name="node 30"/>
          <p:cNvSpPr/>
          <p:nvPr/>
        </p:nvSpPr>
        <p:spPr>
          <a:xfrm>
            <a:off x="457200" y="4334256"/>
            <a:ext cx="2194560" cy="603504"/>
          </a:xfrm>
          <a:prstGeom prst="roundRect">
            <a:avLst>
              <a:gd name="adj" fmla="val 9091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4334256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Also add to refresh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Delete + refresh (e.g. unmerge)</a:t>
            </a:r>
            <a:endParaRPr lang="en-US" sz="1150" dirty="0"/>
          </a:p>
        </p:txBody>
      </p:sp>
      <p:sp>
        <p:nvSpPr>
          <p:cNvPr id="34" name="connector 32"/>
          <p:cNvSpPr/>
          <p:nvPr/>
        </p:nvSpPr>
        <p:spPr>
          <a:xfrm>
            <a:off x="2953512" y="3703320"/>
            <a:ext cx="0" cy="177393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35" name="connector 33"/>
          <p:cNvSpPr/>
          <p:nvPr/>
        </p:nvSpPr>
        <p:spPr>
          <a:xfrm>
            <a:off x="1559052" y="4937760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6" name="node 34"/>
          <p:cNvSpPr/>
          <p:nvPr/>
        </p:nvSpPr>
        <p:spPr>
          <a:xfrm>
            <a:off x="457200" y="5175504"/>
            <a:ext cx="219456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0352" y="5175504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Take pre-image snapshot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</a:rPr>
              <a:t>Tables as they are before deletes</a:t>
            </a:r>
            <a:endParaRPr lang="en-US" sz="1150" dirty="0"/>
          </a:p>
        </p:txBody>
      </p:sp>
      <p:sp>
        <p:nvSpPr>
          <p:cNvPr id="38" name="connector 36"/>
          <p:cNvSpPr/>
          <p:nvPr/>
        </p:nvSpPr>
        <p:spPr>
          <a:xfrm flipH="1">
            <a:off x="2670048" y="5477256"/>
            <a:ext cx="28346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9" name="node 37"/>
          <p:cNvSpPr/>
          <p:nvPr/>
        </p:nvSpPr>
        <p:spPr>
          <a:xfrm>
            <a:off x="3346704" y="1627632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19856" y="1627632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Read today’s EIDs for this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Hub runs first, then each spoke</a:t>
            </a:r>
            <a:endParaRPr lang="en-US" sz="1150" dirty="0"/>
          </a:p>
        </p:txBody>
      </p:sp>
      <p:sp>
        <p:nvSpPr>
          <p:cNvPr id="41" name="connector 39"/>
          <p:cNvSpPr/>
          <p:nvPr/>
        </p:nvSpPr>
        <p:spPr>
          <a:xfrm>
            <a:off x="4649724" y="2231136"/>
            <a:ext cx="0" cy="21945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2" name="node 40"/>
          <p:cNvSpPr/>
          <p:nvPr/>
        </p:nvSpPr>
        <p:spPr>
          <a:xfrm>
            <a:off x="3781044" y="2468880"/>
            <a:ext cx="1737360" cy="786384"/>
          </a:xfrm>
          <a:prstGeom prst="diamond">
            <a:avLst>
              <a:gd name="adj" fmla="val 697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055364" y="246888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3806"/>
                </a:solidFill>
              </a:rPr>
              <a:t>Any rows today?</a:t>
            </a:r>
            <a:endParaRPr lang="en-US" sz="1050" dirty="0"/>
          </a:p>
        </p:txBody>
      </p:sp>
      <p:sp>
        <p:nvSpPr>
          <p:cNvPr id="44" name="connector 42"/>
          <p:cNvSpPr/>
          <p:nvPr/>
        </p:nvSpPr>
        <p:spPr>
          <a:xfrm>
            <a:off x="5518404" y="2862072"/>
            <a:ext cx="416052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54980" y="2642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No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495544" y="2898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4F0B"/>
                </a:solidFill>
              </a:rPr>
              <a:t>Empty file,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54F0B"/>
                </a:solidFill>
              </a:rPr>
              <a:t>stop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704588" y="32644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Yes</a:t>
            </a:r>
            <a:endParaRPr lang="en-US" sz="950" dirty="0"/>
          </a:p>
        </p:txBody>
      </p:sp>
      <p:sp>
        <p:nvSpPr>
          <p:cNvPr id="48" name="connector 46"/>
          <p:cNvSpPr/>
          <p:nvPr/>
        </p:nvSpPr>
        <p:spPr>
          <a:xfrm>
            <a:off x="4649724" y="3255264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9" name="GB outline 47"/>
          <p:cNvSpPr/>
          <p:nvPr/>
        </p:nvSpPr>
        <p:spPr>
          <a:xfrm>
            <a:off x="3282696" y="3429000"/>
            <a:ext cx="2734056" cy="731520"/>
          </a:xfrm>
          <a:prstGeom prst="roundRect">
            <a:avLst>
              <a:gd name="adj" fmla="val 11250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50" name="node 48"/>
          <p:cNvSpPr/>
          <p:nvPr/>
        </p:nvSpPr>
        <p:spPr>
          <a:xfrm>
            <a:off x="3346704" y="349300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419856" y="3493008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Delete by MDM ID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</a:rPr>
              <a:t>Consolidated, unconsolidated, transient, org, single view</a:t>
            </a:r>
            <a:endParaRPr lang="en-US" sz="1150" dirty="0"/>
          </a:p>
        </p:txBody>
      </p:sp>
      <p:sp>
        <p:nvSpPr>
          <p:cNvPr id="52" name="GB tag 50"/>
          <p:cNvSpPr/>
          <p:nvPr/>
        </p:nvSpPr>
        <p:spPr>
          <a:xfrm>
            <a:off x="5568696" y="3337560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568696" y="33375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GB</a:t>
            </a:r>
            <a:endParaRPr lang="en-US" sz="850" dirty="0"/>
          </a:p>
        </p:txBody>
      </p:sp>
      <p:sp>
        <p:nvSpPr>
          <p:cNvPr id="54" name="connector 52"/>
          <p:cNvSpPr/>
          <p:nvPr/>
        </p:nvSpPr>
        <p:spPr>
          <a:xfrm>
            <a:off x="4649724" y="4096512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5" name="node 53"/>
          <p:cNvSpPr/>
          <p:nvPr/>
        </p:nvSpPr>
        <p:spPr>
          <a:xfrm>
            <a:off x="3346704" y="433425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19856" y="4334256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Log deletes + queue for refresh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</a:rPr>
              <a:t>Delete log; deleted + merged EIDs → refresh table</a:t>
            </a:r>
            <a:endParaRPr lang="en-US" sz="1150" dirty="0"/>
          </a:p>
        </p:txBody>
      </p:sp>
      <p:sp>
        <p:nvSpPr>
          <p:cNvPr id="57" name="connector 55"/>
          <p:cNvSpPr/>
          <p:nvPr/>
        </p:nvSpPr>
        <p:spPr>
          <a:xfrm>
            <a:off x="4649724" y="4937760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8" name="GB outline 56"/>
          <p:cNvSpPr/>
          <p:nvPr/>
        </p:nvSpPr>
        <p:spPr>
          <a:xfrm>
            <a:off x="3282696" y="5111496"/>
            <a:ext cx="2734056" cy="731520"/>
          </a:xfrm>
          <a:prstGeom prst="roundRect">
            <a:avLst>
              <a:gd name="adj" fmla="val 11250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59" name="node 57"/>
          <p:cNvSpPr/>
          <p:nvPr/>
        </p:nvSpPr>
        <p:spPr>
          <a:xfrm>
            <a:off x="3346704" y="5175504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419856" y="5175504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Write delete file for Informatica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EID + source system code</a:t>
            </a:r>
            <a:endParaRPr lang="en-US" sz="1150" dirty="0"/>
          </a:p>
        </p:txBody>
      </p:sp>
      <p:sp>
        <p:nvSpPr>
          <p:cNvPr id="61" name="GB tag 59"/>
          <p:cNvSpPr/>
          <p:nvPr/>
        </p:nvSpPr>
        <p:spPr>
          <a:xfrm>
            <a:off x="5568696" y="5020056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568696" y="50200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GB</a:t>
            </a:r>
            <a:endParaRPr lang="en-US" sz="850" dirty="0"/>
          </a:p>
        </p:txBody>
      </p:sp>
      <p:sp>
        <p:nvSpPr>
          <p:cNvPr id="63" name="node 61"/>
          <p:cNvSpPr/>
          <p:nvPr/>
        </p:nvSpPr>
        <p:spPr>
          <a:xfrm>
            <a:off x="6236208" y="1627632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309360" y="1627632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12B13"/>
                </a:solidFill>
              </a:rPr>
              <a:t>Pick up delete files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</a:rPr>
              <a:t>One per layer, read from the data lake</a:t>
            </a:r>
            <a:endParaRPr lang="en-US" sz="1150" dirty="0"/>
          </a:p>
        </p:txBody>
      </p:sp>
      <p:sp>
        <p:nvSpPr>
          <p:cNvPr id="65" name="connector 63"/>
          <p:cNvSpPr/>
          <p:nvPr/>
        </p:nvSpPr>
        <p:spPr>
          <a:xfrm>
            <a:off x="7539228" y="2231136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66" name="GB outline 64"/>
          <p:cNvSpPr/>
          <p:nvPr/>
        </p:nvSpPr>
        <p:spPr>
          <a:xfrm>
            <a:off x="6172200" y="2404872"/>
            <a:ext cx="2734056" cy="731520"/>
          </a:xfrm>
          <a:prstGeom prst="roundRect">
            <a:avLst>
              <a:gd name="adj" fmla="val 11250"/>
            </a:avLst>
          </a:prstGeom>
          <a:solidFill>
            <a:srgbClr val="FFFFFF">
              <a:alpha val="0"/>
            </a:srgbClr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67" name="node 65"/>
          <p:cNvSpPr/>
          <p:nvPr/>
        </p:nvSpPr>
        <p:spPr>
          <a:xfrm>
            <a:off x="6236208" y="2468880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309360" y="2468880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12B13"/>
                </a:solidFill>
              </a:rPr>
              <a:t>Delete matching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</a:rPr>
              <a:t>In Informatica hub and spokes</a:t>
            </a:r>
            <a:endParaRPr lang="en-US" sz="1150" dirty="0"/>
          </a:p>
        </p:txBody>
      </p:sp>
      <p:sp>
        <p:nvSpPr>
          <p:cNvPr id="69" name="GB tag 67"/>
          <p:cNvSpPr/>
          <p:nvPr/>
        </p:nvSpPr>
        <p:spPr>
          <a:xfrm>
            <a:off x="8458200" y="23134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458200" y="2313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GB</a:t>
            </a:r>
            <a:endParaRPr lang="en-US" sz="850" dirty="0"/>
          </a:p>
        </p:txBody>
      </p:sp>
      <p:sp>
        <p:nvSpPr>
          <p:cNvPr id="71" name="connector 69"/>
          <p:cNvSpPr/>
          <p:nvPr/>
        </p:nvSpPr>
        <p:spPr>
          <a:xfrm>
            <a:off x="7539228" y="3072384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72" name="node 70"/>
          <p:cNvSpPr/>
          <p:nvPr/>
        </p:nvSpPr>
        <p:spPr>
          <a:xfrm>
            <a:off x="6236208" y="331012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309360" y="3310128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12B13"/>
                </a:solidFill>
              </a:rPr>
              <a:t>Write refresh file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</a:rPr>
              <a:t>All EIDs that were deleted</a:t>
            </a:r>
            <a:endParaRPr lang="en-US" sz="1150" dirty="0"/>
          </a:p>
        </p:txBody>
      </p:sp>
      <p:sp>
        <p:nvSpPr>
          <p:cNvPr id="74" name="connector 72"/>
          <p:cNvSpPr/>
          <p:nvPr/>
        </p:nvSpPr>
        <p:spPr>
          <a:xfrm>
            <a:off x="7539228" y="3913632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75" name="node 73"/>
          <p:cNvSpPr/>
          <p:nvPr/>
        </p:nvSpPr>
        <p:spPr>
          <a:xfrm>
            <a:off x="6236208" y="415137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09360" y="4151376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Load refresh file into refresh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Data lake job reads Informatica log</a:t>
            </a:r>
            <a:endParaRPr lang="en-US" sz="1150" dirty="0"/>
          </a:p>
        </p:txBody>
      </p:sp>
      <p:sp>
        <p:nvSpPr>
          <p:cNvPr id="77" name="note 75"/>
          <p:cNvSpPr/>
          <p:nvPr/>
        </p:nvSpPr>
        <p:spPr>
          <a:xfrm>
            <a:off x="6236208" y="5038344"/>
            <a:ext cx="2606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dash"/>
          </a:ln>
        </p:spPr>
      </p:sp>
      <p:sp>
        <p:nvSpPr>
          <p:cNvPr id="78" name="text 76"/>
          <p:cNvSpPr txBox="1"/>
          <p:nvPr/>
        </p:nvSpPr>
        <p:spPr>
          <a:xfrm>
            <a:off x="6373368" y="5038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</a:rPr>
              <a:t>Informatica can’t read Delta tables, so these files are its only input.</a:t>
            </a:r>
            <a:endParaRPr lang="en-US" sz="1050" dirty="0"/>
          </a:p>
        </p:txBody>
      </p:sp>
      <p:sp>
        <p:nvSpPr>
          <p:cNvPr id="79" name="node 77"/>
          <p:cNvSpPr/>
          <p:nvPr/>
        </p:nvSpPr>
        <p:spPr>
          <a:xfrm>
            <a:off x="9125712" y="1627632"/>
            <a:ext cx="2606040" cy="713232"/>
          </a:xfrm>
          <a:prstGeom prst="roundRect">
            <a:avLst>
              <a:gd name="adj" fmla="val 7692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198864" y="1627632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2C2A"/>
                </a:solidFill>
              </a:rPr>
              <a:t>Refresh table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DQM refresh EIDs + merged EIDs + Informatica refresh file</a:t>
            </a:r>
            <a:endParaRPr lang="en-US" sz="1150" dirty="0"/>
          </a:p>
        </p:txBody>
      </p:sp>
      <p:sp>
        <p:nvSpPr>
          <p:cNvPr id="81" name="connector 79"/>
          <p:cNvSpPr/>
          <p:nvPr/>
        </p:nvSpPr>
        <p:spPr>
          <a:xfrm>
            <a:off x="10428732" y="2340864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2" name="node 80"/>
          <p:cNvSpPr/>
          <p:nvPr/>
        </p:nvSpPr>
        <p:spPr>
          <a:xfrm>
            <a:off x="9125712" y="257860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98864" y="2578608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Next batch picks them up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85FA5"/>
                </a:solidFill>
              </a:rPr>
              <a:t>Customer profile = refresh EIDs + delta changes</a:t>
            </a:r>
            <a:endParaRPr lang="en-US" sz="1150" dirty="0"/>
          </a:p>
        </p:txBody>
      </p:sp>
      <p:sp>
        <p:nvSpPr>
          <p:cNvPr id="84" name="connector 82"/>
          <p:cNvSpPr/>
          <p:nvPr/>
        </p:nvSpPr>
        <p:spPr>
          <a:xfrm>
            <a:off x="10428732" y="3182112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5" name="node 83"/>
          <p:cNvSpPr/>
          <p:nvPr/>
        </p:nvSpPr>
        <p:spPr>
          <a:xfrm>
            <a:off x="9125712" y="341985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198864" y="3419856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12B13"/>
                </a:solidFill>
              </a:rPr>
              <a:t>Informatica re-ingests &amp; re-matches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93C1D"/>
                </a:solidFill>
              </a:rPr>
              <a:t>Rebuilt as clean, separate records</a:t>
            </a:r>
            <a:endParaRPr lang="en-US" sz="1150" dirty="0"/>
          </a:p>
        </p:txBody>
      </p:sp>
      <p:sp>
        <p:nvSpPr>
          <p:cNvPr id="87" name="connector 85"/>
          <p:cNvSpPr/>
          <p:nvPr/>
        </p:nvSpPr>
        <p:spPr>
          <a:xfrm>
            <a:off x="10428732" y="4023360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8" name="node 86"/>
          <p:cNvSpPr/>
          <p:nvPr/>
        </p:nvSpPr>
        <p:spPr>
          <a:xfrm>
            <a:off x="9125712" y="4261104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198864" y="4261104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447C"/>
                </a:solidFill>
              </a:rPr>
              <a:t>Hub → Salesforce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85FA5"/>
                </a:solidFill>
              </a:rPr>
              <a:t>Corrected records replace the bad ones</a:t>
            </a:r>
            <a:endParaRPr lang="en-US" sz="1150" dirty="0"/>
          </a:p>
        </p:txBody>
      </p:sp>
      <p:sp>
        <p:nvSpPr>
          <p:cNvPr id="90" name="connector 88"/>
          <p:cNvSpPr/>
          <p:nvPr/>
        </p:nvSpPr>
        <p:spPr>
          <a:xfrm>
            <a:off x="10428732" y="4864608"/>
            <a:ext cx="0" cy="2377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91" name="node 89"/>
          <p:cNvSpPr/>
          <p:nvPr/>
        </p:nvSpPr>
        <p:spPr>
          <a:xfrm>
            <a:off x="9125712" y="5102352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198864" y="5102352"/>
            <a:ext cx="2459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5041"/>
                </a:solidFill>
              </a:rPr>
              <a:t>DQM validates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Pre-image vs post-image</a:t>
            </a:r>
            <a:endParaRPr lang="en-US" sz="1150" dirty="0"/>
          </a:p>
        </p:txBody>
      </p:sp>
      <p:sp>
        <p:nvSpPr>
          <p:cNvPr id="93" name="legend 91"/>
          <p:cNvSpPr/>
          <p:nvPr/>
        </p:nvSpPr>
        <p:spPr>
          <a:xfrm>
            <a:off x="45720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49808" y="6382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Data lake / DQM job</a:t>
            </a:r>
            <a:endParaRPr lang="en-US" sz="1050" dirty="0"/>
          </a:p>
        </p:txBody>
      </p:sp>
      <p:sp>
        <p:nvSpPr>
          <p:cNvPr id="95" name="legend 93"/>
          <p:cNvSpPr/>
          <p:nvPr/>
        </p:nvSpPr>
        <p:spPr>
          <a:xfrm>
            <a:off x="233172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2624328" y="6382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Informatica</a:t>
            </a:r>
            <a:endParaRPr lang="en-US" sz="1050" dirty="0"/>
          </a:p>
        </p:txBody>
      </p:sp>
      <p:sp>
        <p:nvSpPr>
          <p:cNvPr id="97" name="legend 95"/>
          <p:cNvSpPr/>
          <p:nvPr/>
        </p:nvSpPr>
        <p:spPr>
          <a:xfrm>
            <a:off x="420624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498848" y="6382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Batch / Salesforce</a:t>
            </a:r>
            <a:endParaRPr lang="en-US" sz="1050" dirty="0"/>
          </a:p>
        </p:txBody>
      </p:sp>
      <p:sp>
        <p:nvSpPr>
          <p:cNvPr id="99" name="legend 97"/>
          <p:cNvSpPr/>
          <p:nvPr/>
        </p:nvSpPr>
        <p:spPr>
          <a:xfrm>
            <a:off x="6080760" y="6419088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373368" y="6382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Decision</a:t>
            </a:r>
            <a:endParaRPr lang="en-US" sz="1050" dirty="0"/>
          </a:p>
        </p:txBody>
      </p:sp>
      <p:sp>
        <p:nvSpPr>
          <p:cNvPr id="101" name="legend gb 99"/>
          <p:cNvSpPr/>
          <p:nvPr/>
        </p:nvSpPr>
        <p:spPr>
          <a:xfrm>
            <a:off x="7955280" y="6437376"/>
            <a:ext cx="329184" cy="155448"/>
          </a:xfrm>
          <a:prstGeom prst="roundRect">
            <a:avLst>
              <a:gd name="adj" fmla="val 47059"/>
            </a:avLst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955280" y="6437376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GB</a:t>
            </a:r>
            <a:endParaRPr lang="en-US" sz="800" dirty="0"/>
          </a:p>
        </p:txBody>
      </p:sp>
      <p:sp>
        <p:nvSpPr>
          <p:cNvPr id="103" name="text 101"/>
          <p:cNvSpPr txBox="1"/>
          <p:nvPr/>
        </p:nvSpPr>
        <p:spPr>
          <a:xfrm>
            <a:off x="8357616" y="6382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Where the GB source system code matters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A"/>
                </a:solidFill>
              </a:rPr>
              <a:t>What happens to a record under each action</a:t>
            </a:r>
            <a:endParaRPr lang="en-US" sz="2600" dirty="0"/>
          </a:p>
        </p:txBody>
      </p:sp>
      <p:sp>
        <p:nvSpPr>
          <p:cNvPr id="3" name="text 102"/>
          <p:cNvSpPr txBox="1"/>
          <p:nvPr/>
        </p:nvSpPr>
        <p:spPr>
          <a:xfrm>
            <a:off x="2148840" y="10515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DQM action</a:t>
            </a:r>
            <a:endParaRPr lang="en-US" sz="1300" dirty="0"/>
          </a:p>
        </p:txBody>
      </p:sp>
      <p:sp>
        <p:nvSpPr>
          <p:cNvPr id="4" name="text 103"/>
          <p:cNvSpPr txBox="1"/>
          <p:nvPr/>
        </p:nvSpPr>
        <p:spPr>
          <a:xfrm>
            <a:off x="4562856" y="10515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Delete run (same day)</a:t>
            </a:r>
            <a:endParaRPr lang="en-US" sz="1300" dirty="0"/>
          </a:p>
        </p:txBody>
      </p:sp>
      <p:sp>
        <p:nvSpPr>
          <p:cNvPr id="5" name="text 104"/>
          <p:cNvSpPr txBox="1"/>
          <p:nvPr/>
        </p:nvSpPr>
        <p:spPr>
          <a:xfrm>
            <a:off x="6976872" y="10515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Next batch</a:t>
            </a:r>
            <a:endParaRPr lang="en-US" sz="1300" dirty="0"/>
          </a:p>
        </p:txBody>
      </p:sp>
      <p:sp>
        <p:nvSpPr>
          <p:cNvPr id="6" name="text 105"/>
          <p:cNvSpPr txBox="1"/>
          <p:nvPr/>
        </p:nvSpPr>
        <p:spPr>
          <a:xfrm>
            <a:off x="9390888" y="10515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End result</a:t>
            </a:r>
            <a:endParaRPr lang="en-US" sz="1300" dirty="0"/>
          </a:p>
        </p:txBody>
      </p:sp>
      <p:sp>
        <p:nvSpPr>
          <p:cNvPr id="7" name="path label 106"/>
          <p:cNvSpPr/>
          <p:nvPr/>
        </p:nvSpPr>
        <p:spPr>
          <a:xfrm>
            <a:off x="457200" y="1508760"/>
            <a:ext cx="1508760" cy="1280160"/>
          </a:xfrm>
          <a:prstGeom prst="roundRect">
            <a:avLst>
              <a:gd name="adj" fmla="val 4286"/>
            </a:avLst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8" name="text 107"/>
          <p:cNvSpPr txBox="1"/>
          <p:nvPr/>
        </p:nvSpPr>
        <p:spPr>
          <a:xfrm>
            <a:off x="548640" y="15087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Refresh only</a:t>
            </a:r>
            <a:endParaRPr lang="en-US" sz="1400" dirty="0"/>
          </a:p>
        </p:txBody>
      </p:sp>
      <p:sp>
        <p:nvSpPr>
          <p:cNvPr id="9" name="node 108"/>
          <p:cNvSpPr/>
          <p:nvPr/>
        </p:nvSpPr>
        <p:spPr>
          <a:xfrm>
            <a:off x="2148840" y="1508760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0" name="text 109"/>
          <p:cNvSpPr txBox="1"/>
          <p:nvPr/>
        </p:nvSpPr>
        <p:spPr>
          <a:xfrm>
            <a:off x="2258568" y="1508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A"/>
                </a:solidFill>
              </a:rPr>
              <a:t>Add EID to refresh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No delete</a:t>
            </a:r>
            <a:endParaRPr lang="en-US" sz="1200" dirty="0"/>
          </a:p>
        </p:txBody>
      </p:sp>
      <p:sp>
        <p:nvSpPr>
          <p:cNvPr id="11" name="connector 110"/>
          <p:cNvSpPr/>
          <p:nvPr/>
        </p:nvSpPr>
        <p:spPr>
          <a:xfrm>
            <a:off x="4389120" y="2148840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node 111"/>
          <p:cNvSpPr/>
          <p:nvPr/>
        </p:nvSpPr>
        <p:spPr>
          <a:xfrm>
            <a:off x="4562856" y="1508760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3" name="text 112"/>
          <p:cNvSpPr txBox="1"/>
          <p:nvPr/>
        </p:nvSpPr>
        <p:spPr>
          <a:xfrm>
            <a:off x="4672584" y="1508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A"/>
                </a:solidFill>
              </a:rPr>
              <a:t>Nothing deleted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Record left in place</a:t>
            </a:r>
            <a:endParaRPr lang="en-US" sz="1200" dirty="0"/>
          </a:p>
        </p:txBody>
      </p:sp>
      <p:sp>
        <p:nvSpPr>
          <p:cNvPr id="14" name="connector 113"/>
          <p:cNvSpPr/>
          <p:nvPr/>
        </p:nvSpPr>
        <p:spPr>
          <a:xfrm>
            <a:off x="6803136" y="2148840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5" name="node 114"/>
          <p:cNvSpPr/>
          <p:nvPr/>
        </p:nvSpPr>
        <p:spPr>
          <a:xfrm>
            <a:off x="6976872" y="1508760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16" name="text 115"/>
          <p:cNvSpPr txBox="1"/>
          <p:nvPr/>
        </p:nvSpPr>
        <p:spPr>
          <a:xfrm>
            <a:off x="7086600" y="1508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47C"/>
                </a:solidFill>
              </a:rPr>
              <a:t>Re-sent with delta changes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5FA5"/>
                </a:solidFill>
              </a:rPr>
              <a:t>Even with no source change</a:t>
            </a:r>
            <a:endParaRPr lang="en-US" sz="1200" dirty="0"/>
          </a:p>
        </p:txBody>
      </p:sp>
      <p:sp>
        <p:nvSpPr>
          <p:cNvPr id="17" name="connector 116"/>
          <p:cNvSpPr/>
          <p:nvPr/>
        </p:nvSpPr>
        <p:spPr>
          <a:xfrm>
            <a:off x="9217152" y="2148840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8" name="node 117"/>
          <p:cNvSpPr/>
          <p:nvPr/>
        </p:nvSpPr>
        <p:spPr>
          <a:xfrm>
            <a:off x="9390888" y="1508760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9" name="text 118"/>
          <p:cNvSpPr txBox="1"/>
          <p:nvPr/>
        </p:nvSpPr>
        <p:spPr>
          <a:xfrm>
            <a:off x="9500616" y="150876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</a:rPr>
              <a:t>Record refreshed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Latest data in hub and Salesforce</a:t>
            </a:r>
            <a:endParaRPr lang="en-US" sz="1200" dirty="0"/>
          </a:p>
        </p:txBody>
      </p:sp>
      <p:sp>
        <p:nvSpPr>
          <p:cNvPr id="20" name="path label 119"/>
          <p:cNvSpPr/>
          <p:nvPr/>
        </p:nvSpPr>
        <p:spPr>
          <a:xfrm>
            <a:off x="457200" y="3081528"/>
            <a:ext cx="1508760" cy="1280160"/>
          </a:xfrm>
          <a:prstGeom prst="roundRect">
            <a:avLst>
              <a:gd name="adj" fmla="val 4286"/>
            </a:avLst>
          </a:prstGeom>
          <a:solidFill>
            <a:srgbClr val="D85A30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1" name="text 120"/>
          <p:cNvSpPr txBox="1"/>
          <p:nvPr/>
        </p:nvSpPr>
        <p:spPr>
          <a:xfrm>
            <a:off x="548640" y="308152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Delete only</a:t>
            </a:r>
            <a:endParaRPr lang="en-US" sz="1400" dirty="0"/>
          </a:p>
        </p:txBody>
      </p:sp>
      <p:sp>
        <p:nvSpPr>
          <p:cNvPr id="22" name="node 121"/>
          <p:cNvSpPr/>
          <p:nvPr/>
        </p:nvSpPr>
        <p:spPr>
          <a:xfrm>
            <a:off x="2148840" y="3081528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3" name="text 122"/>
          <p:cNvSpPr txBox="1"/>
          <p:nvPr/>
        </p:nvSpPr>
        <p:spPr>
          <a:xfrm>
            <a:off x="2258568" y="308152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A"/>
                </a:solidFill>
              </a:rPr>
              <a:t>Add EID to ad hoc delete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Not in refresh table</a:t>
            </a:r>
            <a:endParaRPr lang="en-US" sz="1200" dirty="0"/>
          </a:p>
        </p:txBody>
      </p:sp>
      <p:sp>
        <p:nvSpPr>
          <p:cNvPr id="24" name="connector 123"/>
          <p:cNvSpPr/>
          <p:nvPr/>
        </p:nvSpPr>
        <p:spPr>
          <a:xfrm>
            <a:off x="4389120" y="3721608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5" name="node 124"/>
          <p:cNvSpPr/>
          <p:nvPr/>
        </p:nvSpPr>
        <p:spPr>
          <a:xfrm>
            <a:off x="4562856" y="3081528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26" name="text 125"/>
          <p:cNvSpPr txBox="1"/>
          <p:nvPr/>
        </p:nvSpPr>
        <p:spPr>
          <a:xfrm>
            <a:off x="4672584" y="308152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2B13"/>
                </a:solidFill>
              </a:rPr>
              <a:t>Removed from data lake + Informatica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</a:rPr>
              <a:t>Hub first, then spokes</a:t>
            </a:r>
            <a:endParaRPr lang="en-US" sz="1200" dirty="0"/>
          </a:p>
        </p:txBody>
      </p:sp>
      <p:sp>
        <p:nvSpPr>
          <p:cNvPr id="27" name="connector 126"/>
          <p:cNvSpPr/>
          <p:nvPr/>
        </p:nvSpPr>
        <p:spPr>
          <a:xfrm>
            <a:off x="6803136" y="3721608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8" name="node 127"/>
          <p:cNvSpPr/>
          <p:nvPr/>
        </p:nvSpPr>
        <p:spPr>
          <a:xfrm>
            <a:off x="6976872" y="3081528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9" name="text 128"/>
          <p:cNvSpPr txBox="1"/>
          <p:nvPr/>
        </p:nvSpPr>
        <p:spPr>
          <a:xfrm>
            <a:off x="7086600" y="308152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A"/>
                </a:solidFill>
              </a:rPr>
              <a:t>Not re-sent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Stays out of the batch</a:t>
            </a:r>
            <a:endParaRPr lang="en-US" sz="1200" dirty="0"/>
          </a:p>
        </p:txBody>
      </p:sp>
      <p:sp>
        <p:nvSpPr>
          <p:cNvPr id="30" name="connector 129"/>
          <p:cNvSpPr/>
          <p:nvPr/>
        </p:nvSpPr>
        <p:spPr>
          <a:xfrm>
            <a:off x="9217152" y="3721608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1" name="node 130"/>
          <p:cNvSpPr/>
          <p:nvPr/>
        </p:nvSpPr>
        <p:spPr>
          <a:xfrm>
            <a:off x="9390888" y="3081528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32" name="text 131"/>
          <p:cNvSpPr txBox="1"/>
          <p:nvPr/>
        </p:nvSpPr>
        <p:spPr>
          <a:xfrm>
            <a:off x="9500616" y="3081528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2B13"/>
                </a:solidFill>
              </a:rPr>
              <a:t>Duplicate gone / moved out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</a:rPr>
              <a:t>e.g. consolidated → unconsolidated</a:t>
            </a:r>
            <a:endParaRPr lang="en-US" sz="1200" dirty="0"/>
          </a:p>
        </p:txBody>
      </p:sp>
      <p:sp>
        <p:nvSpPr>
          <p:cNvPr id="33" name="path label 132"/>
          <p:cNvSpPr/>
          <p:nvPr/>
        </p:nvSpPr>
        <p:spPr>
          <a:xfrm>
            <a:off x="457200" y="4654296"/>
            <a:ext cx="1508760" cy="1280160"/>
          </a:xfrm>
          <a:prstGeom prst="roundRect">
            <a:avLst>
              <a:gd name="adj" fmla="val 4286"/>
            </a:avLst>
          </a:prstGeom>
          <a:solidFill>
            <a:srgbClr val="7F77DD"/>
          </a:solidFill>
          <a:ln w="6350">
            <a:solidFill>
              <a:srgbClr val="7F77DD"/>
            </a:solidFill>
            <a:prstDash val="solid"/>
          </a:ln>
        </p:spPr>
      </p:sp>
      <p:sp>
        <p:nvSpPr>
          <p:cNvPr id="34" name="text 133"/>
          <p:cNvSpPr txBox="1"/>
          <p:nvPr/>
        </p:nvSpPr>
        <p:spPr>
          <a:xfrm>
            <a:off x="548640" y="4654296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Delete + refresh</a:t>
            </a:r>
            <a:endParaRPr lang="en-US" sz="1400" dirty="0"/>
          </a:p>
        </p:txBody>
      </p:sp>
      <p:sp>
        <p:nvSpPr>
          <p:cNvPr id="35" name="node 134"/>
          <p:cNvSpPr/>
          <p:nvPr/>
        </p:nvSpPr>
        <p:spPr>
          <a:xfrm>
            <a:off x="2148840" y="4654296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6" name="text 135"/>
          <p:cNvSpPr txBox="1"/>
          <p:nvPr/>
        </p:nvSpPr>
        <p:spPr>
          <a:xfrm>
            <a:off x="2258568" y="4654296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A"/>
                </a:solidFill>
              </a:rPr>
              <a:t>Add EID to both tables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Typical for unmerges</a:t>
            </a:r>
            <a:endParaRPr lang="en-US" sz="1200" dirty="0"/>
          </a:p>
        </p:txBody>
      </p:sp>
      <p:sp>
        <p:nvSpPr>
          <p:cNvPr id="37" name="connector 136"/>
          <p:cNvSpPr/>
          <p:nvPr/>
        </p:nvSpPr>
        <p:spPr>
          <a:xfrm>
            <a:off x="4389120" y="5294376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8" name="node 137"/>
          <p:cNvSpPr/>
          <p:nvPr/>
        </p:nvSpPr>
        <p:spPr>
          <a:xfrm>
            <a:off x="4562856" y="4654296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39" name="text 138"/>
          <p:cNvSpPr txBox="1"/>
          <p:nvPr/>
        </p:nvSpPr>
        <p:spPr>
          <a:xfrm>
            <a:off x="4672584" y="4654296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2B13"/>
                </a:solidFill>
              </a:rPr>
              <a:t>Removed from data lake + Informatica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</a:rPr>
              <a:t>Merged EIDs queued for refresh</a:t>
            </a:r>
            <a:endParaRPr lang="en-US" sz="1200" dirty="0"/>
          </a:p>
        </p:txBody>
      </p:sp>
      <p:sp>
        <p:nvSpPr>
          <p:cNvPr id="40" name="connector 139"/>
          <p:cNvSpPr/>
          <p:nvPr/>
        </p:nvSpPr>
        <p:spPr>
          <a:xfrm>
            <a:off x="6803136" y="5294376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1" name="node 140"/>
          <p:cNvSpPr/>
          <p:nvPr/>
        </p:nvSpPr>
        <p:spPr>
          <a:xfrm>
            <a:off x="6976872" y="4654296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E6F1FB"/>
          </a:solidFill>
          <a:ln w="9525">
            <a:solidFill>
              <a:srgbClr val="378ADD"/>
            </a:solidFill>
            <a:prstDash val="solid"/>
          </a:ln>
        </p:spPr>
      </p:sp>
      <p:sp>
        <p:nvSpPr>
          <p:cNvPr id="42" name="text 141"/>
          <p:cNvSpPr txBox="1"/>
          <p:nvPr/>
        </p:nvSpPr>
        <p:spPr>
          <a:xfrm>
            <a:off x="7086600" y="4654296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47C"/>
                </a:solidFill>
              </a:rPr>
              <a:t>Re-sent and re-matched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5FA5"/>
                </a:solidFill>
              </a:rPr>
              <a:t>Informatica rebuilds the records</a:t>
            </a:r>
            <a:endParaRPr lang="en-US" sz="1200" dirty="0"/>
          </a:p>
        </p:txBody>
      </p:sp>
      <p:sp>
        <p:nvSpPr>
          <p:cNvPr id="43" name="connector 142"/>
          <p:cNvSpPr/>
          <p:nvPr/>
        </p:nvSpPr>
        <p:spPr>
          <a:xfrm>
            <a:off x="9217152" y="5294376"/>
            <a:ext cx="14630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4" name="node 143"/>
          <p:cNvSpPr/>
          <p:nvPr/>
        </p:nvSpPr>
        <p:spPr>
          <a:xfrm>
            <a:off x="9390888" y="4654296"/>
            <a:ext cx="2212848" cy="1280160"/>
          </a:xfrm>
          <a:prstGeom prst="roundRect">
            <a:avLst>
              <a:gd name="adj" fmla="val 4286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5" name="text 144"/>
          <p:cNvSpPr txBox="1"/>
          <p:nvPr/>
        </p:nvSpPr>
        <p:spPr>
          <a:xfrm>
            <a:off x="9500616" y="4654296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</a:rPr>
              <a:t>Clean, separate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Back in hub and Salesforce</a:t>
            </a:r>
            <a:endParaRPr lang="en-US" sz="1200" dirty="0"/>
          </a:p>
        </p:txBody>
      </p:sp>
      <p:sp>
        <p:nvSpPr>
          <p:cNvPr id="46" name="text 145"/>
          <p:cNvSpPr txBox="1"/>
          <p:nvPr/>
        </p:nvSpPr>
        <p:spPr>
          <a:xfrm>
            <a:off x="45720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</a:rPr>
              <a:t>Every delete is logged and checked by DQM against the pre-image. How delete-only records end up in unconsolidated is still to confirm in the data lake code.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hoc Delete">
  <a:themeElements>
    <a:clrScheme name="Adhoc Delete">
      <a:dk1>
        <a:srgbClr val="2C2C2A"/>
      </a:dk1>
      <a:lt1>
        <a:srgbClr val="FFFFFF"/>
      </a:lt1>
      <a:dk2>
        <a:srgbClr val="1F3A34"/>
      </a:dk2>
      <a:lt2>
        <a:srgbClr val="F1EFE8"/>
      </a:lt2>
      <a:accent1>
        <a:srgbClr val="0F6E56"/>
      </a:accent1>
      <a:accent2>
        <a:srgbClr val="993C1D"/>
      </a:accent2>
      <a:accent3>
        <a:srgbClr val="BA7517"/>
      </a:accent3>
      <a:accent4>
        <a:srgbClr val="5F5E5A"/>
      </a:accent4>
      <a:accent5>
        <a:srgbClr val="1D9E75"/>
      </a:accent5>
      <a:accent6>
        <a:srgbClr val="D85A30"/>
      </a:accent6>
      <a:hlink>
        <a:srgbClr val="0F6E56"/>
      </a:hlink>
      <a:folHlink>
        <a:srgbClr val="5F5E5A"/>
      </a:folHlink>
    </a:clrScheme>
    <a:fontScheme name="Adhoc Dele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hoc Delete &amp; Refresh – Generic Flow</dc:title>
  <dc:subject>PptxGenJS Presentation</dc:subject>
  <dc:creator>PptxGenJS</dc:creator>
  <cp:lastModifiedBy>PptxGenJS</cp:lastModifiedBy>
  <cp:revision>1</cp:revision>
  <dcterms:created xsi:type="dcterms:W3CDTF">2026-10-11T21:45:39Z</dcterms:created>
  <dcterms:modified xsi:type="dcterms:W3CDTF">2026-10-11T21:45:39Z</dcterms:modified>
</cp:coreProperties>
</file>