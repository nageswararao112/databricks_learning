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d hoc delete flow" id="{f55f2acc-6116-c9c9-61be-fe78f5ac3a39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Hub job runs first; spoke jobs run only if it succeeds. The Hash ADV table is fed by the hub job and by the ADV write job after Informatica deletes; the ADF pipeline then refreshes those records to Salesforce. Dashed amber outlines mark where the GB source system code change may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2C2C2A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</a:rPr>
              <a:t>Ad hoc delete &amp; refresh flow — GB impact points</a:t>
            </a:r>
            <a:endParaRPr lang="en-US" sz="3000" dirty="0"/>
          </a:p>
        </p:txBody>
      </p:sp>
      <p:sp>
        <p:nvSpPr>
          <p:cNvPr id="3" name="adhoc table GB outline"/>
          <p:cNvSpPr/>
          <p:nvPr/>
        </p:nvSpPr>
        <p:spPr>
          <a:xfrm>
            <a:off x="2697480" y="1252728"/>
            <a:ext cx="2157984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BA7517"/>
            </a:solidFill>
            <a:prstDash val="dash"/>
          </a:ln>
        </p:spPr>
      </p:sp>
      <p:sp>
        <p:nvSpPr>
          <p:cNvPr id="4" name="hub job GB outline"/>
          <p:cNvSpPr/>
          <p:nvPr/>
        </p:nvSpPr>
        <p:spPr>
          <a:xfrm>
            <a:off x="5010912" y="1252728"/>
            <a:ext cx="2157984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BA7517"/>
            </a:solidFill>
            <a:prstDash val="dash"/>
          </a:ln>
        </p:spPr>
      </p:sp>
      <p:sp>
        <p:nvSpPr>
          <p:cNvPr id="5" name="informatica GB outline"/>
          <p:cNvSpPr/>
          <p:nvPr/>
        </p:nvSpPr>
        <p:spPr>
          <a:xfrm>
            <a:off x="9637776" y="1252728"/>
            <a:ext cx="2157984" cy="1060704"/>
          </a:xfrm>
          <a:prstGeom prst="roundRect">
            <a:avLst>
              <a:gd name="adj" fmla="val 8621"/>
            </a:avLst>
          </a:prstGeom>
          <a:solidFill>
            <a:srgbClr val="FFFFFF">
              <a:alpha val="0"/>
            </a:srgbClr>
          </a:solidFill>
          <a:ln w="19050">
            <a:solidFill>
              <a:srgbClr val="BA7517"/>
            </a:solidFill>
            <a:prstDash val="dash"/>
          </a:ln>
        </p:spPr>
      </p:sp>
      <p:sp>
        <p:nvSpPr>
          <p:cNvPr id="6" name="DQM box"/>
          <p:cNvSpPr/>
          <p:nvPr/>
        </p:nvSpPr>
        <p:spPr>
          <a:xfrm>
            <a:off x="457200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7" name="DQM label"/>
          <p:cNvSpPr txBox="1"/>
          <p:nvPr/>
        </p:nvSpPr>
        <p:spPr>
          <a:xfrm>
            <a:off x="512064" y="1325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DQM team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Loads EIDs + PROCESS_DATE</a:t>
            </a:r>
            <a:endParaRPr lang="en-US" sz="1300" dirty="0"/>
          </a:p>
        </p:txBody>
      </p:sp>
      <p:sp>
        <p:nvSpPr>
          <p:cNvPr id="8" name="adhoc table box"/>
          <p:cNvSpPr/>
          <p:nvPr/>
        </p:nvSpPr>
        <p:spPr>
          <a:xfrm>
            <a:off x="2770632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9" name="adhoc table label"/>
          <p:cNvSpPr txBox="1"/>
          <p:nvPr/>
        </p:nvSpPr>
        <p:spPr>
          <a:xfrm>
            <a:off x="2825496" y="1325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adhoc_delete_spoke_hub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Delete input table</a:t>
            </a:r>
            <a:endParaRPr lang="en-US" sz="1300" dirty="0"/>
          </a:p>
        </p:txBody>
      </p:sp>
      <p:sp>
        <p:nvSpPr>
          <p:cNvPr id="10" name="hub job box"/>
          <p:cNvSpPr/>
          <p:nvPr/>
        </p:nvSpPr>
        <p:spPr>
          <a:xfrm>
            <a:off x="5084064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1" name="hub job label"/>
          <p:cNvSpPr txBox="1"/>
          <p:nvPr/>
        </p:nvSpPr>
        <p:spPr>
          <a:xfrm>
            <a:off x="5138928" y="1325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mdm_hub_adhoc_delete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Hub tables, by MDM_ID</a:t>
            </a:r>
            <a:endParaRPr lang="en-US" sz="1300" dirty="0"/>
          </a:p>
        </p:txBody>
      </p:sp>
      <p:sp>
        <p:nvSpPr>
          <p:cNvPr id="12" name="spokes box"/>
          <p:cNvSpPr/>
          <p:nvPr/>
        </p:nvSpPr>
        <p:spPr>
          <a:xfrm>
            <a:off x="7397496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3" name="spokes label"/>
          <p:cNvSpPr txBox="1"/>
          <p:nvPr/>
        </p:nvSpPr>
        <p:spPr>
          <a:xfrm>
            <a:off x="7452360" y="1325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Spoke deletes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Bank, insurance, GWAM, retirement — only if hub succeeds</a:t>
            </a:r>
            <a:endParaRPr lang="en-US" sz="1300" dirty="0"/>
          </a:p>
        </p:txBody>
      </p:sp>
      <p:sp>
        <p:nvSpPr>
          <p:cNvPr id="14" name="informatica box"/>
          <p:cNvSpPr/>
          <p:nvPr/>
        </p:nvSpPr>
        <p:spPr>
          <a:xfrm>
            <a:off x="9710928" y="13258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15" name="informatica label"/>
          <p:cNvSpPr txBox="1"/>
          <p:nvPr/>
        </p:nvSpPr>
        <p:spPr>
          <a:xfrm>
            <a:off x="9765792" y="132588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12B13"/>
                </a:solidFill>
              </a:rPr>
              <a:t>Informatica delete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93C1D"/>
                </a:solidFill>
              </a:rPr>
              <a:t>CSV: EID + source system code</a:t>
            </a:r>
            <a:endParaRPr lang="en-US" sz="1300" dirty="0"/>
          </a:p>
        </p:txBody>
      </p:sp>
      <p:sp>
        <p:nvSpPr>
          <p:cNvPr id="16" name="preimage box"/>
          <p:cNvSpPr/>
          <p:nvPr/>
        </p:nvSpPr>
        <p:spPr>
          <a:xfrm>
            <a:off x="457200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7" name="preimage label"/>
          <p:cNvSpPr txBox="1"/>
          <p:nvPr/>
        </p:nvSpPr>
        <p:spPr>
          <a:xfrm>
            <a:off x="512064" y="29718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Pre-image prep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adhoc_delete_data_prep_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preimage</a:t>
            </a:r>
            <a:endParaRPr lang="en-US" sz="1300" dirty="0"/>
          </a:p>
        </p:txBody>
      </p:sp>
      <p:sp>
        <p:nvSpPr>
          <p:cNvPr id="18" name="salesforce box"/>
          <p:cNvSpPr/>
          <p:nvPr/>
        </p:nvSpPr>
        <p:spPr>
          <a:xfrm>
            <a:off x="2770632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19" name="salesforce label"/>
          <p:cNvSpPr txBox="1"/>
          <p:nvPr/>
        </p:nvSpPr>
        <p:spPr>
          <a:xfrm>
            <a:off x="2825496" y="29718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Salesforce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Clean records restored</a:t>
            </a:r>
            <a:endParaRPr lang="en-US" sz="1300" dirty="0"/>
          </a:p>
        </p:txBody>
      </p:sp>
      <p:sp>
        <p:nvSpPr>
          <p:cNvPr id="20" name="adf box"/>
          <p:cNvSpPr/>
          <p:nvPr/>
        </p:nvSpPr>
        <p:spPr>
          <a:xfrm>
            <a:off x="5084064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1" name="adf label"/>
          <p:cNvSpPr txBox="1"/>
          <p:nvPr/>
        </p:nvSpPr>
        <p:spPr>
          <a:xfrm>
            <a:off x="5138928" y="29718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ADF refresh pipeline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Predq to SF</a:t>
            </a:r>
            <a:endParaRPr lang="en-US" sz="1300" dirty="0"/>
          </a:p>
        </p:txBody>
      </p:sp>
      <p:sp>
        <p:nvSpPr>
          <p:cNvPr id="22" name="adv box"/>
          <p:cNvSpPr/>
          <p:nvPr/>
        </p:nvSpPr>
        <p:spPr>
          <a:xfrm>
            <a:off x="7397496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23" name="adv label"/>
          <p:cNvSpPr txBox="1"/>
          <p:nvPr/>
        </p:nvSpPr>
        <p:spPr>
          <a:xfrm>
            <a:off x="7452360" y="29718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2C2A"/>
                </a:solidFill>
              </a:rPr>
              <a:t>Hash ADV table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F5E5A"/>
                </a:solidFill>
              </a:rPr>
              <a:t>C360STG.STG_HASH_UPDATE_ADV</a:t>
            </a:r>
            <a:endParaRPr lang="en-US" sz="1300" dirty="0"/>
          </a:p>
        </p:txBody>
      </p:sp>
      <p:sp>
        <p:nvSpPr>
          <p:cNvPr id="24" name="adv write box"/>
          <p:cNvSpPr/>
          <p:nvPr/>
        </p:nvSpPr>
        <p:spPr>
          <a:xfrm>
            <a:off x="9710928" y="297180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5" name="adv write label"/>
          <p:cNvSpPr txBox="1"/>
          <p:nvPr/>
        </p:nvSpPr>
        <p:spPr>
          <a:xfrm>
            <a:off x="9765792" y="29718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5041"/>
                </a:solidFill>
              </a:rPr>
              <a:t>ADV write from Infa log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adhoc_adv_write_from_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6E56"/>
                </a:solidFill>
              </a:rPr>
              <a:t>Informatica_Log</a:t>
            </a:r>
            <a:endParaRPr lang="en-US" sz="1300" dirty="0"/>
          </a:p>
        </p:txBody>
      </p:sp>
      <p:sp>
        <p:nvSpPr>
          <p:cNvPr id="26" name="arrow r1 0"/>
          <p:cNvSpPr/>
          <p:nvPr/>
        </p:nvSpPr>
        <p:spPr>
          <a:xfrm>
            <a:off x="2560320" y="178308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7" name="arrow r1 1"/>
          <p:cNvSpPr/>
          <p:nvPr/>
        </p:nvSpPr>
        <p:spPr>
          <a:xfrm>
            <a:off x="4873752" y="178308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8" name="arrow r1 2"/>
          <p:cNvSpPr/>
          <p:nvPr/>
        </p:nvSpPr>
        <p:spPr>
          <a:xfrm>
            <a:off x="7187184" y="178308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9" name="arrow r1 3"/>
          <p:cNvSpPr/>
          <p:nvPr/>
        </p:nvSpPr>
        <p:spPr>
          <a:xfrm>
            <a:off x="9500616" y="178308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0" name="arrow DQM to preimage"/>
          <p:cNvSpPr/>
          <p:nvPr/>
        </p:nvSpPr>
        <p:spPr>
          <a:xfrm>
            <a:off x="1463040" y="2350008"/>
            <a:ext cx="0" cy="58521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1" name="arrow informatica to adv write"/>
          <p:cNvSpPr/>
          <p:nvPr/>
        </p:nvSpPr>
        <p:spPr>
          <a:xfrm>
            <a:off x="10716768" y="2350008"/>
            <a:ext cx="0" cy="585216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2" name="hub to adv seg1"/>
          <p:cNvSpPr/>
          <p:nvPr/>
        </p:nvSpPr>
        <p:spPr>
          <a:xfrm>
            <a:off x="6592824" y="2331720"/>
            <a:ext cx="0" cy="256032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33" name="hub to adv seg2"/>
          <p:cNvSpPr/>
          <p:nvPr/>
        </p:nvSpPr>
        <p:spPr>
          <a:xfrm>
            <a:off x="6592824" y="2587752"/>
            <a:ext cx="1508760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</a:ln>
        </p:spPr>
      </p:sp>
      <p:sp>
        <p:nvSpPr>
          <p:cNvPr id="34" name="hub to adv arrow"/>
          <p:cNvSpPr/>
          <p:nvPr/>
        </p:nvSpPr>
        <p:spPr>
          <a:xfrm>
            <a:off x="8101584" y="2587752"/>
            <a:ext cx="0" cy="347472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35" name="hub to adv label"/>
          <p:cNvSpPr txBox="1"/>
          <p:nvPr/>
        </p:nvSpPr>
        <p:spPr>
          <a:xfrm>
            <a:off x="6684264" y="23134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5E5A"/>
                </a:solidFill>
              </a:rPr>
              <a:t>EIDs + merged EIDs</a:t>
            </a:r>
            <a:endParaRPr lang="en-US" sz="1000" dirty="0"/>
          </a:p>
        </p:txBody>
      </p:sp>
      <p:sp>
        <p:nvSpPr>
          <p:cNvPr id="36" name="adv write to adv"/>
          <p:cNvSpPr/>
          <p:nvPr/>
        </p:nvSpPr>
        <p:spPr>
          <a:xfrm>
            <a:off x="9518904" y="342900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headEnd type="triangle"/>
          </a:ln>
        </p:spPr>
      </p:sp>
      <p:sp>
        <p:nvSpPr>
          <p:cNvPr id="37" name="adv to adf"/>
          <p:cNvSpPr/>
          <p:nvPr/>
        </p:nvSpPr>
        <p:spPr>
          <a:xfrm>
            <a:off x="7205472" y="342900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headEnd type="triangle"/>
          </a:ln>
        </p:spPr>
      </p:sp>
      <p:sp>
        <p:nvSpPr>
          <p:cNvPr id="38" name="adf to salesforce"/>
          <p:cNvSpPr/>
          <p:nvPr/>
        </p:nvSpPr>
        <p:spPr>
          <a:xfrm>
            <a:off x="4892040" y="3429000"/>
            <a:ext cx="100584" cy="0"/>
          </a:xfrm>
          <a:prstGeom prst="line">
            <a:avLst/>
          </a:prstGeom>
          <a:noFill/>
          <a:ln w="15875">
            <a:solidFill>
              <a:srgbClr val="888780"/>
            </a:solidFill>
            <a:prstDash val="solid"/>
            <a:headEnd type="triangle"/>
          </a:ln>
        </p:spPr>
      </p:sp>
      <p:sp>
        <p:nvSpPr>
          <p:cNvPr id="39" name="GB heading"/>
          <p:cNvSpPr txBox="1"/>
          <p:nvPr/>
        </p:nvSpPr>
        <p:spPr>
          <a:xfrm>
            <a:off x="457200" y="4160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54F0B"/>
                </a:solidFill>
              </a:rPr>
              <a:t>GB impact points</a:t>
            </a:r>
            <a:endParaRPr lang="en-US" sz="1600" dirty="0"/>
          </a:p>
        </p:txBody>
      </p:sp>
      <p:sp>
        <p:nvSpPr>
          <p:cNvPr id="40" name="GB note 1"/>
          <p:cNvSpPr/>
          <p:nvPr/>
        </p:nvSpPr>
        <p:spPr>
          <a:xfrm>
            <a:off x="457200" y="45720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41" name="GB note text 1"/>
          <p:cNvSpPr txBox="1"/>
          <p:nvPr/>
        </p:nvSpPr>
        <p:spPr>
          <a:xfrm>
            <a:off x="621792" y="4681728"/>
            <a:ext cx="3282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33806"/>
                </a:solidFill>
              </a:rPr>
              <a:t>1  adhoc_delete_spoke_hub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33806"/>
                </a:solidFill>
              </a:rPr>
              <a:t>Confirm GB records are tagged so the hub job selects them.</a:t>
            </a:r>
            <a:endParaRPr lang="en-US" sz="1300" dirty="0"/>
          </a:p>
        </p:txBody>
      </p:sp>
      <p:sp>
        <p:nvSpPr>
          <p:cNvPr id="42" name="GB note 2"/>
          <p:cNvSpPr/>
          <p:nvPr/>
        </p:nvSpPr>
        <p:spPr>
          <a:xfrm>
            <a:off x="4288536" y="45720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43" name="GB note text 2"/>
          <p:cNvSpPr txBox="1"/>
          <p:nvPr/>
        </p:nvSpPr>
        <p:spPr>
          <a:xfrm>
            <a:off x="4453128" y="4681728"/>
            <a:ext cx="3282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33806"/>
                </a:solidFill>
              </a:rPr>
              <a:t>2  mdm_hub_adhoc_delete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33806"/>
                </a:solidFill>
              </a:rPr>
              <a:t>Docs say deletes key on MDM_ID. Verify Hub_Delete_EIDs doesn’t also filter on source system code (lines 263–572).</a:t>
            </a:r>
            <a:endParaRPr lang="en-US" sz="1300" dirty="0"/>
          </a:p>
        </p:txBody>
      </p:sp>
      <p:sp>
        <p:nvSpPr>
          <p:cNvPr id="44" name="GB note 3"/>
          <p:cNvSpPr/>
          <p:nvPr/>
        </p:nvSpPr>
        <p:spPr>
          <a:xfrm>
            <a:off x="8119872" y="4572000"/>
            <a:ext cx="3611880" cy="1051560"/>
          </a:xfrm>
          <a:prstGeom prst="roundRect">
            <a:avLst>
              <a:gd name="adj" fmla="val 6957"/>
            </a:avLst>
          </a:prstGeom>
          <a:solidFill>
            <a:srgbClr val="FAEEDA"/>
          </a:solidFill>
          <a:ln w="9525">
            <a:solidFill>
              <a:srgbClr val="EF9F27"/>
            </a:solidFill>
            <a:prstDash val="solid"/>
          </a:ln>
        </p:spPr>
      </p:sp>
      <p:sp>
        <p:nvSpPr>
          <p:cNvPr id="45" name="GB note text 3"/>
          <p:cNvSpPr txBox="1"/>
          <p:nvPr/>
        </p:nvSpPr>
        <p:spPr>
          <a:xfrm>
            <a:off x="8284464" y="4681728"/>
            <a:ext cx="328269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33806"/>
                </a:solidFill>
              </a:rPr>
              <a:t>3  Informatica delete CSV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33806"/>
                </a:solidFill>
              </a:rPr>
              <a:t>File carries EID + source system code. GB rows need the right code if Informatica scopes deletes by it.</a:t>
            </a:r>
            <a:endParaRPr lang="en-US" sz="1300" dirty="0"/>
          </a:p>
        </p:txBody>
      </p:sp>
      <p:sp>
        <p:nvSpPr>
          <p:cNvPr id="46" name="legend swatch 0"/>
          <p:cNvSpPr/>
          <p:nvPr/>
        </p:nvSpPr>
        <p:spPr>
          <a:xfrm>
            <a:off x="457200" y="608990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7" name="legend label 0"/>
          <p:cNvSpPr txBox="1"/>
          <p:nvPr/>
        </p:nvSpPr>
        <p:spPr>
          <a:xfrm>
            <a:off x="749808" y="6053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</a:rPr>
              <a:t>Data lake job</a:t>
            </a:r>
            <a:endParaRPr lang="en-US" sz="1100" dirty="0"/>
          </a:p>
        </p:txBody>
      </p:sp>
      <p:sp>
        <p:nvSpPr>
          <p:cNvPr id="48" name="legend swatch 1"/>
          <p:cNvSpPr/>
          <p:nvPr/>
        </p:nvSpPr>
        <p:spPr>
          <a:xfrm>
            <a:off x="2286000" y="608990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AECE7"/>
          </a:solidFill>
          <a:ln w="9525">
            <a:solidFill>
              <a:srgbClr val="D85A30"/>
            </a:solidFill>
            <a:prstDash val="solid"/>
          </a:ln>
        </p:spPr>
      </p:sp>
      <p:sp>
        <p:nvSpPr>
          <p:cNvPr id="49" name="legend label 1"/>
          <p:cNvSpPr txBox="1"/>
          <p:nvPr/>
        </p:nvSpPr>
        <p:spPr>
          <a:xfrm>
            <a:off x="2578608" y="6053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</a:rPr>
              <a:t>Informatica</a:t>
            </a:r>
            <a:endParaRPr lang="en-US" sz="1100" dirty="0"/>
          </a:p>
        </p:txBody>
      </p:sp>
      <p:sp>
        <p:nvSpPr>
          <p:cNvPr id="50" name="legend swatch 2"/>
          <p:cNvSpPr/>
          <p:nvPr/>
        </p:nvSpPr>
        <p:spPr>
          <a:xfrm>
            <a:off x="4114800" y="608990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1EFE8"/>
          </a:solidFill>
          <a:ln w="9525">
            <a:solidFill>
              <a:srgbClr val="B4B2A9"/>
            </a:solidFill>
            <a:prstDash val="solid"/>
          </a:ln>
        </p:spPr>
      </p:sp>
      <p:sp>
        <p:nvSpPr>
          <p:cNvPr id="51" name="legend label 2"/>
          <p:cNvSpPr txBox="1"/>
          <p:nvPr/>
        </p:nvSpPr>
        <p:spPr>
          <a:xfrm>
            <a:off x="4407408" y="6053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</a:rPr>
              <a:t>Table / other</a:t>
            </a:r>
            <a:endParaRPr lang="en-US" sz="1100" dirty="0"/>
          </a:p>
        </p:txBody>
      </p:sp>
      <p:sp>
        <p:nvSpPr>
          <p:cNvPr id="52" name="legend swatch 3"/>
          <p:cNvSpPr/>
          <p:nvPr/>
        </p:nvSpPr>
        <p:spPr>
          <a:xfrm>
            <a:off x="5943600" y="6089904"/>
            <a:ext cx="219456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BA7517"/>
            </a:solidFill>
            <a:prstDash val="dash"/>
          </a:ln>
        </p:spPr>
      </p:sp>
      <p:sp>
        <p:nvSpPr>
          <p:cNvPr id="53" name="legend label 3"/>
          <p:cNvSpPr txBox="1"/>
          <p:nvPr/>
        </p:nvSpPr>
        <p:spPr>
          <a:xfrm>
            <a:off x="6236208" y="6053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5E5A"/>
                </a:solidFill>
              </a:rPr>
              <a:t>GB impact point</a:t>
            </a:r>
            <a:endParaRPr lang="en-US" sz="1100" dirty="0"/>
          </a:p>
        </p:txBody>
      </p:sp>
      <p:sp>
        <p:nvSpPr>
          <p:cNvPr id="54" name="assumption"/>
          <p:cNvSpPr txBox="1"/>
          <p:nvPr/>
        </p:nvSpPr>
        <p:spPr>
          <a:xfrm>
            <a:off x="7772400" y="6053328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F5E5A"/>
                </a:solidFill>
              </a:rPr>
              <a:t>Assumes GB flows through the hub as a source system, not a separate spoke.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hoc Delete">
  <a:themeElements>
    <a:clrScheme name="Adhoc Delete">
      <a:dk1>
        <a:srgbClr val="2C2C2A"/>
      </a:dk1>
      <a:lt1>
        <a:srgbClr val="FFFFFF"/>
      </a:lt1>
      <a:dk2>
        <a:srgbClr val="444441"/>
      </a:dk2>
      <a:lt2>
        <a:srgbClr val="F1EFE8"/>
      </a:lt2>
      <a:accent1>
        <a:srgbClr val="0F6E56"/>
      </a:accent1>
      <a:accent2>
        <a:srgbClr val="993C1D"/>
      </a:accent2>
      <a:accent3>
        <a:srgbClr val="BA7517"/>
      </a:accent3>
      <a:accent4>
        <a:srgbClr val="5F5E5A"/>
      </a:accent4>
      <a:accent5>
        <a:srgbClr val="1D9E75"/>
      </a:accent5>
      <a:accent6>
        <a:srgbClr val="D85A30"/>
      </a:accent6>
      <a:hlink>
        <a:srgbClr val="0F6E56"/>
      </a:hlink>
      <a:folHlink>
        <a:srgbClr val="5F5E5A"/>
      </a:folHlink>
    </a:clrScheme>
    <a:fontScheme name="Adhoc Delet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hoc delete and refresh flow with GB impact points</dc:title>
  <dc:subject>PptxGenJS Presentation</dc:subject>
  <dc:creator>PptxGenJS</dc:creator>
  <cp:lastModifiedBy>PptxGenJS</cp:lastModifiedBy>
  <cp:revision>1</cp:revision>
  <dcterms:created xsi:type="dcterms:W3CDTF">2026-10-11T20:56:56Z</dcterms:created>
  <dcterms:modified xsi:type="dcterms:W3CDTF">2026-10-11T20:56:56Z</dcterms:modified>
</cp:coreProperties>
</file>