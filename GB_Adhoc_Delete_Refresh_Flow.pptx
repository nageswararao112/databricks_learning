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Hub: delete the EIDs from single view consolidated and single view transient, and exclude code 45 from Hash ADV. Spoke: capture the member ID for each EID, then delete the EIDs from the unified customer delta table. Refresh: update the member ETL timestamp in the raw event hub table for those member IDs, covering all payloads. The next GB run re-sorts the payloads, backfills missing fields and re-applies the ITF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C2C2A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A"/>
                </a:solidFill>
              </a:rPr>
              <a:t>GB – ad hoc delete &amp; refresh flow</a:t>
            </a:r>
            <a:endParaRPr lang="en-US" sz="2600" dirty="0"/>
          </a:p>
        </p:txBody>
      </p:sp>
      <p:sp>
        <p:nvSpPr>
          <p:cNvPr id="3" name="phase 1"/>
          <p:cNvSpPr/>
          <p:nvPr/>
        </p:nvSpPr>
        <p:spPr>
          <a:xfrm>
            <a:off x="457200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  DQM request</a:t>
            </a:r>
            <a:endParaRPr lang="en-US" sz="1250" dirty="0"/>
          </a:p>
        </p:txBody>
      </p:sp>
      <p:sp>
        <p:nvSpPr>
          <p:cNvPr id="5" name="connector 3"/>
          <p:cNvSpPr/>
          <p:nvPr/>
        </p:nvSpPr>
        <p:spPr>
          <a:xfrm>
            <a:off x="3099816" y="1152144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" name="phase 4"/>
          <p:cNvSpPr/>
          <p:nvPr/>
        </p:nvSpPr>
        <p:spPr>
          <a:xfrm>
            <a:off x="3346704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46704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  Hub delete (existing job)</a:t>
            </a:r>
            <a:endParaRPr lang="en-US" sz="1250" dirty="0"/>
          </a:p>
        </p:txBody>
      </p:sp>
      <p:sp>
        <p:nvSpPr>
          <p:cNvPr id="8" name="connector 6"/>
          <p:cNvSpPr/>
          <p:nvPr/>
        </p:nvSpPr>
        <p:spPr>
          <a:xfrm>
            <a:off x="5989320" y="1152144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9" name="divider 7"/>
          <p:cNvSpPr/>
          <p:nvPr/>
        </p:nvSpPr>
        <p:spPr>
          <a:xfrm>
            <a:off x="3204972" y="1508760"/>
            <a:ext cx="0" cy="470916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0" name="phase 8"/>
          <p:cNvSpPr/>
          <p:nvPr/>
        </p:nvSpPr>
        <p:spPr>
          <a:xfrm>
            <a:off x="6236208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  GB spoke delete + refresh</a:t>
            </a:r>
            <a:endParaRPr lang="en-US" sz="1250" dirty="0"/>
          </a:p>
        </p:txBody>
      </p:sp>
      <p:sp>
        <p:nvSpPr>
          <p:cNvPr id="12" name="connector 10"/>
          <p:cNvSpPr/>
          <p:nvPr/>
        </p:nvSpPr>
        <p:spPr>
          <a:xfrm>
            <a:off x="8878824" y="1152144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3" name="divider 11"/>
          <p:cNvSpPr/>
          <p:nvPr/>
        </p:nvSpPr>
        <p:spPr>
          <a:xfrm>
            <a:off x="6094476" y="1508760"/>
            <a:ext cx="0" cy="470916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4" name="phase 12"/>
          <p:cNvSpPr/>
          <p:nvPr/>
        </p:nvSpPr>
        <p:spPr>
          <a:xfrm>
            <a:off x="9125712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  Next GB run</a:t>
            </a:r>
            <a:endParaRPr lang="en-US" sz="1250" dirty="0"/>
          </a:p>
        </p:txBody>
      </p:sp>
      <p:sp>
        <p:nvSpPr>
          <p:cNvPr id="16" name="divider 14"/>
          <p:cNvSpPr/>
          <p:nvPr/>
        </p:nvSpPr>
        <p:spPr>
          <a:xfrm>
            <a:off x="8983980" y="1508760"/>
            <a:ext cx="0" cy="470916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7" name="node 15"/>
          <p:cNvSpPr/>
          <p:nvPr/>
        </p:nvSpPr>
        <p:spPr>
          <a:xfrm>
            <a:off x="457200" y="16002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160020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Identify records to fix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Duplicates · wrong merges · wrong ITF filter</a:t>
            </a:r>
            <a:endParaRPr lang="en-US" sz="1150" dirty="0"/>
          </a:p>
        </p:txBody>
      </p:sp>
      <p:sp>
        <p:nvSpPr>
          <p:cNvPr id="19" name="connector 17"/>
          <p:cNvSpPr/>
          <p:nvPr/>
        </p:nvSpPr>
        <p:spPr>
          <a:xfrm>
            <a:off x="1760220" y="216712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change outline 18"/>
          <p:cNvSpPr/>
          <p:nvPr/>
        </p:nvSpPr>
        <p:spPr>
          <a:xfrm>
            <a:off x="402336" y="2313432"/>
            <a:ext cx="2715768" cy="676656"/>
          </a:xfrm>
          <a:prstGeom prst="roundRect">
            <a:avLst>
              <a:gd name="adj" fmla="val 12162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21" name="node 19"/>
          <p:cNvSpPr/>
          <p:nvPr/>
        </p:nvSpPr>
        <p:spPr>
          <a:xfrm>
            <a:off x="457200" y="23682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2368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Load EIDs into ad hoc delete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GB rows: source system code 45</a:t>
            </a:r>
            <a:endParaRPr lang="en-US" sz="1150" dirty="0"/>
          </a:p>
        </p:txBody>
      </p:sp>
      <p:sp>
        <p:nvSpPr>
          <p:cNvPr id="23" name="tag 21"/>
          <p:cNvSpPr/>
          <p:nvPr/>
        </p:nvSpPr>
        <p:spPr>
          <a:xfrm>
            <a:off x="2518258" y="2221992"/>
            <a:ext cx="544982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18258" y="2221992"/>
            <a:ext cx="544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GB rows</a:t>
            </a:r>
            <a:endParaRPr lang="en-US" sz="850" dirty="0"/>
          </a:p>
        </p:txBody>
      </p:sp>
      <p:sp>
        <p:nvSpPr>
          <p:cNvPr id="25" name="connector 23"/>
          <p:cNvSpPr/>
          <p:nvPr/>
        </p:nvSpPr>
        <p:spPr>
          <a:xfrm>
            <a:off x="1760220" y="2935224"/>
            <a:ext cx="0" cy="18288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6" name="node 24"/>
          <p:cNvSpPr/>
          <p:nvPr/>
        </p:nvSpPr>
        <p:spPr>
          <a:xfrm>
            <a:off x="891540" y="3136392"/>
            <a:ext cx="1737360" cy="768096"/>
          </a:xfrm>
          <a:prstGeom prst="diamond">
            <a:avLst>
              <a:gd name="adj" fmla="val 7143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65860" y="3136392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3806"/>
                </a:solidFill>
              </a:rPr>
              <a:t>Should it come back?</a:t>
            </a:r>
            <a:endParaRPr lang="en-US" sz="1050" dirty="0"/>
          </a:p>
        </p:txBody>
      </p:sp>
      <p:sp>
        <p:nvSpPr>
          <p:cNvPr id="28" name="connector 26"/>
          <p:cNvSpPr/>
          <p:nvPr/>
        </p:nvSpPr>
        <p:spPr>
          <a:xfrm>
            <a:off x="2628900" y="3520440"/>
            <a:ext cx="3246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65476" y="3300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No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815084" y="39136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Yes</a:t>
            </a:r>
            <a:endParaRPr lang="en-US" sz="950" dirty="0"/>
          </a:p>
        </p:txBody>
      </p:sp>
      <p:sp>
        <p:nvSpPr>
          <p:cNvPr id="31" name="connector 29"/>
          <p:cNvSpPr/>
          <p:nvPr/>
        </p:nvSpPr>
        <p:spPr>
          <a:xfrm>
            <a:off x="1760220" y="390448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2" name="node 30"/>
          <p:cNvSpPr/>
          <p:nvPr/>
        </p:nvSpPr>
        <p:spPr>
          <a:xfrm>
            <a:off x="457200" y="4105656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" y="4105656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Mark for delete + refresh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e.g. unmerge, ITF fix</a:t>
            </a:r>
            <a:endParaRPr lang="en-US" sz="1150" dirty="0"/>
          </a:p>
        </p:txBody>
      </p:sp>
      <p:sp>
        <p:nvSpPr>
          <p:cNvPr id="34" name="connector 32"/>
          <p:cNvSpPr/>
          <p:nvPr/>
        </p:nvSpPr>
        <p:spPr>
          <a:xfrm>
            <a:off x="1559052" y="4672584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5" name="node 33"/>
          <p:cNvSpPr/>
          <p:nvPr/>
        </p:nvSpPr>
        <p:spPr>
          <a:xfrm>
            <a:off x="457200" y="4873752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0352" y="487375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Take pre-image snapshot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</a:rPr>
              <a:t>Tables before deletes</a:t>
            </a:r>
            <a:endParaRPr lang="en-US" sz="1150" dirty="0"/>
          </a:p>
        </p:txBody>
      </p:sp>
      <p:sp>
        <p:nvSpPr>
          <p:cNvPr id="37" name="connector 35"/>
          <p:cNvSpPr/>
          <p:nvPr/>
        </p:nvSpPr>
        <p:spPr>
          <a:xfrm>
            <a:off x="2953512" y="3520440"/>
            <a:ext cx="0" cy="1636776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38" name="connector 36"/>
          <p:cNvSpPr/>
          <p:nvPr/>
        </p:nvSpPr>
        <p:spPr>
          <a:xfrm flipH="1">
            <a:off x="2670048" y="5157216"/>
            <a:ext cx="28346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9" name="node 37"/>
          <p:cNvSpPr/>
          <p:nvPr/>
        </p:nvSpPr>
        <p:spPr>
          <a:xfrm>
            <a:off x="3346704" y="16002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19856" y="160020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Read today’s hub EIDs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Includes GB (45) rows</a:t>
            </a:r>
            <a:endParaRPr lang="en-US" sz="1150" dirty="0"/>
          </a:p>
        </p:txBody>
      </p:sp>
      <p:sp>
        <p:nvSpPr>
          <p:cNvPr id="41" name="connector 39"/>
          <p:cNvSpPr/>
          <p:nvPr/>
        </p:nvSpPr>
        <p:spPr>
          <a:xfrm>
            <a:off x="4649724" y="216712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2" name="node 40"/>
          <p:cNvSpPr/>
          <p:nvPr/>
        </p:nvSpPr>
        <p:spPr>
          <a:xfrm>
            <a:off x="3346704" y="23682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19856" y="2368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Delete EIDs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single view consolidated</a:t>
            </a:r>
            <a:endParaRPr lang="en-US" sz="1150" dirty="0"/>
          </a:p>
        </p:txBody>
      </p:sp>
      <p:sp>
        <p:nvSpPr>
          <p:cNvPr id="44" name="connector 42"/>
          <p:cNvSpPr/>
          <p:nvPr/>
        </p:nvSpPr>
        <p:spPr>
          <a:xfrm>
            <a:off x="4649724" y="2935224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5" name="node 43"/>
          <p:cNvSpPr/>
          <p:nvPr/>
        </p:nvSpPr>
        <p:spPr>
          <a:xfrm>
            <a:off x="3346704" y="31363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19856" y="3136392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Delete EIDs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single view transient</a:t>
            </a:r>
            <a:endParaRPr lang="en-US" sz="1150" dirty="0"/>
          </a:p>
        </p:txBody>
      </p:sp>
      <p:sp>
        <p:nvSpPr>
          <p:cNvPr id="47" name="connector 45"/>
          <p:cNvSpPr/>
          <p:nvPr/>
        </p:nvSpPr>
        <p:spPr>
          <a:xfrm>
            <a:off x="4649724" y="3703320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8" name="change outline 46"/>
          <p:cNvSpPr/>
          <p:nvPr/>
        </p:nvSpPr>
        <p:spPr>
          <a:xfrm>
            <a:off x="3291840" y="3849624"/>
            <a:ext cx="2715768" cy="676656"/>
          </a:xfrm>
          <a:prstGeom prst="roundRect">
            <a:avLst>
              <a:gd name="adj" fmla="val 12162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49" name="node 47"/>
          <p:cNvSpPr/>
          <p:nvPr/>
        </p:nvSpPr>
        <p:spPr>
          <a:xfrm>
            <a:off x="3346704" y="390448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419856" y="390448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Push keys to Hash ADV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Filter source system code != 45</a:t>
            </a:r>
            <a:endParaRPr lang="en-US" sz="1150" dirty="0"/>
          </a:p>
        </p:txBody>
      </p:sp>
      <p:sp>
        <p:nvSpPr>
          <p:cNvPr id="51" name="tag 49"/>
          <p:cNvSpPr/>
          <p:nvPr/>
        </p:nvSpPr>
        <p:spPr>
          <a:xfrm>
            <a:off x="5469941" y="3758184"/>
            <a:ext cx="482803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69941" y="3758184"/>
            <a:ext cx="4828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Change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3346704" y="4846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4F0B"/>
                </a:solidFill>
              </a:rPr>
              <a:t>Hash ADV is Oracle / non-GB only – GB must never be queued there.</a:t>
            </a:r>
            <a:endParaRPr lang="en-US" sz="1050" dirty="0"/>
          </a:p>
        </p:txBody>
      </p:sp>
      <p:sp>
        <p:nvSpPr>
          <p:cNvPr id="54" name="change outline 52"/>
          <p:cNvSpPr/>
          <p:nvPr/>
        </p:nvSpPr>
        <p:spPr>
          <a:xfrm>
            <a:off x="6181344" y="1545336"/>
            <a:ext cx="2715768" cy="676656"/>
          </a:xfrm>
          <a:prstGeom prst="roundRect">
            <a:avLst>
              <a:gd name="adj" fmla="val 12162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55" name="node 53"/>
          <p:cNvSpPr/>
          <p:nvPr/>
        </p:nvSpPr>
        <p:spPr>
          <a:xfrm>
            <a:off x="6236208" y="16002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09360" y="160020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3489"/>
                </a:solidFill>
              </a:rPr>
              <a:t>Filter GB rows (code 45)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34AB7"/>
                </a:solidFill>
              </a:rPr>
              <a:t>New job – GB or Ops, bank pattern</a:t>
            </a:r>
            <a:endParaRPr lang="en-US" sz="1150" dirty="0"/>
          </a:p>
        </p:txBody>
      </p:sp>
      <p:sp>
        <p:nvSpPr>
          <p:cNvPr id="57" name="tag 55"/>
          <p:cNvSpPr/>
          <p:nvPr/>
        </p:nvSpPr>
        <p:spPr>
          <a:xfrm>
            <a:off x="8545982" y="1453896"/>
            <a:ext cx="296266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545982" y="1453896"/>
            <a:ext cx="2962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New</a:t>
            </a:r>
            <a:endParaRPr lang="en-US" sz="850" dirty="0"/>
          </a:p>
        </p:txBody>
      </p:sp>
      <p:sp>
        <p:nvSpPr>
          <p:cNvPr id="59" name="connector 57"/>
          <p:cNvSpPr/>
          <p:nvPr/>
        </p:nvSpPr>
        <p:spPr>
          <a:xfrm>
            <a:off x="7539228" y="216712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0" name="node 58"/>
          <p:cNvSpPr/>
          <p:nvPr/>
        </p:nvSpPr>
        <p:spPr>
          <a:xfrm>
            <a:off x="6236208" y="23682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309360" y="2368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3489"/>
                </a:solidFill>
              </a:rPr>
              <a:t>Capture member ID per EID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34AB7"/>
                </a:solidFill>
              </a:rPr>
              <a:t>Read before deleting</a:t>
            </a:r>
            <a:endParaRPr lang="en-US" sz="1150" dirty="0"/>
          </a:p>
        </p:txBody>
      </p:sp>
      <p:sp>
        <p:nvSpPr>
          <p:cNvPr id="62" name="connector 60"/>
          <p:cNvSpPr/>
          <p:nvPr/>
        </p:nvSpPr>
        <p:spPr>
          <a:xfrm>
            <a:off x="7539228" y="2935224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3" name="change outline 61"/>
          <p:cNvSpPr/>
          <p:nvPr/>
        </p:nvSpPr>
        <p:spPr>
          <a:xfrm>
            <a:off x="6181344" y="3081528"/>
            <a:ext cx="2715768" cy="676656"/>
          </a:xfrm>
          <a:prstGeom prst="roundRect">
            <a:avLst>
              <a:gd name="adj" fmla="val 12162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64" name="node 62"/>
          <p:cNvSpPr/>
          <p:nvPr/>
        </p:nvSpPr>
        <p:spPr>
          <a:xfrm>
            <a:off x="6236208" y="31363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09360" y="3136392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3489"/>
                </a:solidFill>
              </a:rPr>
              <a:t>Delete EIDs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34AB7"/>
                </a:solidFill>
              </a:rPr>
              <a:t>unified customer delta table</a:t>
            </a:r>
            <a:endParaRPr lang="en-US" sz="1150" dirty="0"/>
          </a:p>
        </p:txBody>
      </p:sp>
      <p:sp>
        <p:nvSpPr>
          <p:cNvPr id="66" name="tag 64"/>
          <p:cNvSpPr/>
          <p:nvPr/>
        </p:nvSpPr>
        <p:spPr>
          <a:xfrm>
            <a:off x="8545982" y="2990088"/>
            <a:ext cx="296266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545982" y="2990088"/>
            <a:ext cx="2962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New</a:t>
            </a:r>
            <a:endParaRPr lang="en-US" sz="850" dirty="0"/>
          </a:p>
        </p:txBody>
      </p:sp>
      <p:sp>
        <p:nvSpPr>
          <p:cNvPr id="68" name="connector 66"/>
          <p:cNvSpPr/>
          <p:nvPr/>
        </p:nvSpPr>
        <p:spPr>
          <a:xfrm>
            <a:off x="7539228" y="3703320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9" name="change outline 67"/>
          <p:cNvSpPr/>
          <p:nvPr/>
        </p:nvSpPr>
        <p:spPr>
          <a:xfrm>
            <a:off x="6181344" y="3849624"/>
            <a:ext cx="2715768" cy="768096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70" name="node 68"/>
          <p:cNvSpPr/>
          <p:nvPr/>
        </p:nvSpPr>
        <p:spPr>
          <a:xfrm>
            <a:off x="6236208" y="390448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309360" y="3904488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3489"/>
                </a:solidFill>
              </a:rPr>
              <a:t>Refresh: update member ETL timestamp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34AB7"/>
                </a:solidFill>
              </a:rPr>
              <a:t>raw event hub table, by member ID</a:t>
            </a:r>
            <a:endParaRPr lang="en-US" sz="1150" dirty="0"/>
          </a:p>
        </p:txBody>
      </p:sp>
      <p:sp>
        <p:nvSpPr>
          <p:cNvPr id="72" name="tag 70"/>
          <p:cNvSpPr/>
          <p:nvPr/>
        </p:nvSpPr>
        <p:spPr>
          <a:xfrm>
            <a:off x="8545982" y="3758184"/>
            <a:ext cx="296266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545982" y="3758184"/>
            <a:ext cx="2962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New</a:t>
            </a:r>
            <a:endParaRPr lang="en-US" sz="850" dirty="0"/>
          </a:p>
        </p:txBody>
      </p:sp>
      <p:sp>
        <p:nvSpPr>
          <p:cNvPr id="74" name="note 72"/>
          <p:cNvSpPr/>
          <p:nvPr/>
        </p:nvSpPr>
        <p:spPr>
          <a:xfrm>
            <a:off x="6236208" y="493776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dash"/>
          </a:ln>
        </p:spPr>
      </p:sp>
      <p:sp>
        <p:nvSpPr>
          <p:cNvPr id="75" name="text 73"/>
          <p:cNvSpPr txBox="1"/>
          <p:nvPr/>
        </p:nvSpPr>
        <p:spPr>
          <a:xfrm>
            <a:off x="6373368" y="49377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</a:rPr>
              <a:t>Update every payload for the member, not just the latest – GB payloads are partial, so earlier updates would be lost.</a:t>
            </a:r>
            <a:endParaRPr lang="en-US" sz="1050" dirty="0"/>
          </a:p>
        </p:txBody>
      </p:sp>
      <p:sp>
        <p:nvSpPr>
          <p:cNvPr id="76" name="node 74"/>
          <p:cNvSpPr/>
          <p:nvPr/>
        </p:nvSpPr>
        <p:spPr>
          <a:xfrm>
            <a:off x="9125712" y="16002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198864" y="160020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Curation picks up payloads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5FA5"/>
                </a:solidFill>
              </a:rPr>
              <a:t>From raw event hub table, in sequence</a:t>
            </a:r>
            <a:endParaRPr lang="en-US" sz="1150" dirty="0"/>
          </a:p>
        </p:txBody>
      </p:sp>
      <p:sp>
        <p:nvSpPr>
          <p:cNvPr id="78" name="connector 76"/>
          <p:cNvSpPr/>
          <p:nvPr/>
        </p:nvSpPr>
        <p:spPr>
          <a:xfrm>
            <a:off x="10428732" y="216712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79" name="node 77"/>
          <p:cNvSpPr/>
          <p:nvPr/>
        </p:nvSpPr>
        <p:spPr>
          <a:xfrm>
            <a:off x="9125712" y="23682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198864" y="2368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Latest wins + backfill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5FA5"/>
                </a:solidFill>
              </a:rPr>
              <a:t>Email, address, phone, related party</a:t>
            </a:r>
            <a:endParaRPr lang="en-US" sz="1150" dirty="0"/>
          </a:p>
        </p:txBody>
      </p:sp>
      <p:sp>
        <p:nvSpPr>
          <p:cNvPr id="81" name="connector 79"/>
          <p:cNvSpPr/>
          <p:nvPr/>
        </p:nvSpPr>
        <p:spPr>
          <a:xfrm>
            <a:off x="10428732" y="2935224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2" name="node 80"/>
          <p:cNvSpPr/>
          <p:nvPr/>
        </p:nvSpPr>
        <p:spPr>
          <a:xfrm>
            <a:off x="9125712" y="31363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98864" y="3136392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3806"/>
                </a:solidFill>
              </a:rPr>
              <a:t>ITF filter sets record path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54F0B"/>
                </a:solidFill>
              </a:rPr>
              <a:t>Unification · non-unification · unconsol.</a:t>
            </a:r>
            <a:endParaRPr lang="en-US" sz="1150" dirty="0"/>
          </a:p>
        </p:txBody>
      </p:sp>
      <p:sp>
        <p:nvSpPr>
          <p:cNvPr id="84" name="connector 82"/>
          <p:cNvSpPr/>
          <p:nvPr/>
        </p:nvSpPr>
        <p:spPr>
          <a:xfrm>
            <a:off x="10428732" y="3703320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5" name="node 83"/>
          <p:cNvSpPr/>
          <p:nvPr/>
        </p:nvSpPr>
        <p:spPr>
          <a:xfrm>
            <a:off x="9125712" y="390448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198864" y="390448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Unified customer rebuilt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5FA5"/>
                </a:solidFill>
              </a:rPr>
              <a:t>Collections updated – no direct delete</a:t>
            </a:r>
            <a:endParaRPr lang="en-US" sz="1150" dirty="0"/>
          </a:p>
        </p:txBody>
      </p:sp>
      <p:sp>
        <p:nvSpPr>
          <p:cNvPr id="87" name="connector 85"/>
          <p:cNvSpPr/>
          <p:nvPr/>
        </p:nvSpPr>
        <p:spPr>
          <a:xfrm>
            <a:off x="10428732" y="4471416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8" name="node 86"/>
          <p:cNvSpPr/>
          <p:nvPr/>
        </p:nvSpPr>
        <p:spPr>
          <a:xfrm>
            <a:off x="9125712" y="467258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198864" y="4672584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Salesforce publish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85FA5"/>
                </a:solidFill>
              </a:rPr>
              <a:t>DQM validates vs pre-image</a:t>
            </a:r>
            <a:endParaRPr lang="en-US" sz="1150" dirty="0"/>
          </a:p>
        </p:txBody>
      </p:sp>
      <p:sp>
        <p:nvSpPr>
          <p:cNvPr id="90" name="legend 88"/>
          <p:cNvSpPr/>
          <p:nvPr/>
        </p:nvSpPr>
        <p:spPr>
          <a:xfrm>
            <a:off x="45720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49808" y="6382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Hub / DQM job</a:t>
            </a:r>
            <a:endParaRPr lang="en-US" sz="1050" dirty="0"/>
          </a:p>
        </p:txBody>
      </p:sp>
      <p:sp>
        <p:nvSpPr>
          <p:cNvPr id="92" name="legend 90"/>
          <p:cNvSpPr/>
          <p:nvPr/>
        </p:nvSpPr>
        <p:spPr>
          <a:xfrm>
            <a:off x="242316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715768" y="6382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GB spoke job</a:t>
            </a:r>
            <a:endParaRPr lang="en-US" sz="1050" dirty="0"/>
          </a:p>
        </p:txBody>
      </p:sp>
      <p:sp>
        <p:nvSpPr>
          <p:cNvPr id="94" name="legend 92"/>
          <p:cNvSpPr/>
          <p:nvPr/>
        </p:nvSpPr>
        <p:spPr>
          <a:xfrm>
            <a:off x="438912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681728" y="6382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GB batch / Salesforce</a:t>
            </a:r>
            <a:endParaRPr lang="en-US" sz="1050" dirty="0"/>
          </a:p>
        </p:txBody>
      </p:sp>
      <p:sp>
        <p:nvSpPr>
          <p:cNvPr id="96" name="legend 94"/>
          <p:cNvSpPr/>
          <p:nvPr/>
        </p:nvSpPr>
        <p:spPr>
          <a:xfrm>
            <a:off x="635508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647688" y="6382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Decision</a:t>
            </a:r>
            <a:endParaRPr lang="en-US" sz="1050" dirty="0"/>
          </a:p>
        </p:txBody>
      </p:sp>
      <p:sp>
        <p:nvSpPr>
          <p:cNvPr id="98" name="legend 96"/>
          <p:cNvSpPr/>
          <p:nvPr/>
        </p:nvSpPr>
        <p:spPr>
          <a:xfrm>
            <a:off x="8321040" y="6400800"/>
            <a:ext cx="2743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99" name="text 97"/>
          <p:cNvSpPr txBox="1"/>
          <p:nvPr/>
        </p:nvSpPr>
        <p:spPr>
          <a:xfrm>
            <a:off x="8686800" y="6382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New or changed for GB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A"/>
                </a:solidFill>
              </a:rPr>
              <a:t>GB – decisions and open questions</a:t>
            </a:r>
            <a:endParaRPr lang="en-US" sz="2600" dirty="0"/>
          </a:p>
        </p:txBody>
      </p:sp>
      <p:graphicFrame>
        <p:nvGraphicFramePr>
          <p:cNvPr id="3" name="decis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Agreed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C3489"/>
                          </a:solidFill>
                        </a:rPr>
                        <a:t>Hub delete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Delete EIDs from single view consolidated and single view transient. Exclude code 45 from Hash ADV.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C3489"/>
                          </a:solidFill>
                        </a:rPr>
                        <a:t>GB spoke delete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New job, bank pattern. Delete EIDs from the unified customer delta table. Customer level only.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C3489"/>
                          </a:solidFill>
                        </a:rPr>
                        <a:t>Refresh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Update the member ETL timestamp in the raw event hub table for the member ID (all payloads). No curation change.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C3489"/>
                          </a:solidFill>
                        </a:rPr>
                        <a:t>No manual path moves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ITF filter re-evaluates on replay and sets the record path.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ques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097280"/>
          <a:ext cx="55595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959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E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4441"/>
                          </a:solidFill>
                        </a:rPr>
                        <a:t>Investigate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Where to read the member ID for each EID before the unified delete?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4441"/>
                          </a:solidFill>
                        </a:rPr>
                        <a:t>Taki &amp; Divya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Real-time flow, batch flow, or both?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4441"/>
                          </a:solidFill>
                        </a:rPr>
                        <a:t>Taki &amp; Divya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Raw replay vs cheaper refresh from the collection (skips ITF filter)?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4441"/>
                          </a:solidFill>
                        </a:rPr>
                        <a:t>DQM (Ian / Anne / Jeff)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Which use cases does GB need: duplicates, unmerge, not reflected, path change?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4441"/>
                          </a:solidFill>
                        </a:rPr>
                        <a:t>Taki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Is the Salesforce gap between delete and refresh acceptable?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hoc Delete">
  <a:themeElements>
    <a:clrScheme name="Adhoc Delete">
      <a:dk1>
        <a:srgbClr val="2C2C2A"/>
      </a:dk1>
      <a:lt1>
        <a:srgbClr val="FFFFFF"/>
      </a:lt1>
      <a:dk2>
        <a:srgbClr val="1F3A34"/>
      </a:dk2>
      <a:lt2>
        <a:srgbClr val="F1EFE8"/>
      </a:lt2>
      <a:accent1>
        <a:srgbClr val="0F6E56"/>
      </a:accent1>
      <a:accent2>
        <a:srgbClr val="993C1D"/>
      </a:accent2>
      <a:accent3>
        <a:srgbClr val="BA7517"/>
      </a:accent3>
      <a:accent4>
        <a:srgbClr val="5F5E5A"/>
      </a:accent4>
      <a:accent5>
        <a:srgbClr val="1D9E75"/>
      </a:accent5>
      <a:accent6>
        <a:srgbClr val="D85A30"/>
      </a:accent6>
      <a:hlink>
        <a:srgbClr val="0F6E56"/>
      </a:hlink>
      <a:folHlink>
        <a:srgbClr val="5F5E5A"/>
      </a:folHlink>
    </a:clrScheme>
    <a:fontScheme name="Adhoc Dele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 Ad hoc Delete &amp; Refresh Flow</dc:title>
  <dc:subject>PptxGenJS Presentation</dc:subject>
  <dc:creator>PptxGenJS</dc:creator>
  <cp:lastModifiedBy>PptxGenJS</cp:lastModifiedBy>
  <cp:revision>1</cp:revision>
  <dcterms:created xsi:type="dcterms:W3CDTF">2026-10-15T00:10:55Z</dcterms:created>
  <dcterms:modified xsi:type="dcterms:W3CDTF">2026-10-15T00:10:55Z</dcterms:modified>
</cp:coreProperties>
</file>