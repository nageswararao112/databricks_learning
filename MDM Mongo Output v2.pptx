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persisted MDM output in MongoDB (mdm-gb-db). unified_customer = golden customer; mdm_policy = policy. Join on ENTERPRISE_ID 37819045849600513. Golden thread: MEMBER_ID 16724899 -&gt; ENTERPRISE_ID -&gt; MDM_CUSTOMER_ID 64_25071651 -&gt; Sponsor/Policy 0619261.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9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MDM Output — MongoDB Golden Records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04672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mdm-gb-dev-cls-pl-0.khdkxf.mongodb.net   ·   mdm-gb-db   ·   final persisted golden records after MDM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02920" y="1170432"/>
            <a:ext cx="3246120" cy="457200"/>
          </a:xfrm>
          <a:prstGeom prst="roundRect">
            <a:avLst>
              <a:gd name="adj" fmla="val 12000"/>
            </a:avLst>
          </a:prstGeom>
          <a:solidFill>
            <a:srgbClr val="EEF1F3"/>
          </a:solidFill>
          <a:ln w="12700">
            <a:solidFill>
              <a:srgbClr val="D8DC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30936" y="1170432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 OUT payload</a:t>
            </a:r>
            <a:endParaRPr lang="en-US" sz="115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message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749040" y="117043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251960" y="1170432"/>
            <a:ext cx="3246120" cy="457200"/>
          </a:xfrm>
          <a:prstGeom prst="roundRect">
            <a:avLst>
              <a:gd name="adj" fmla="val 12000"/>
            </a:avLst>
          </a:prstGeom>
          <a:solidFill>
            <a:srgbClr val="EEF1F3"/>
          </a:solidFill>
          <a:ln w="12700">
            <a:solidFill>
              <a:srgbClr val="D8DC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79976" y="1170432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MDM processing</a:t>
            </a:r>
            <a:endParaRPr lang="en-US" sz="115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· Informatica IDMC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498080" y="1170432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001000" y="1170432"/>
            <a:ext cx="3246120" cy="457200"/>
          </a:xfrm>
          <a:prstGeom prst="roundRect">
            <a:avLst>
              <a:gd name="adj" fmla="val 12000"/>
            </a:avLst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29016" y="1170432"/>
            <a:ext cx="30266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· mdm-gb-db</a:t>
            </a:r>
            <a:endParaRPr lang="en-US" sz="115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C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unified_customer + mdm_policy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1847088"/>
            <a:ext cx="5532120" cy="3310128"/>
          </a:xfrm>
          <a:prstGeom prst="roundRect">
            <a:avLst>
              <a:gd name="adj" fmla="val 1105"/>
            </a:avLst>
          </a:prstGeom>
          <a:solidFill>
            <a:srgbClr val="FBFCFC"/>
          </a:solidFill>
          <a:ln w="12700">
            <a:solidFill>
              <a:srgbClr val="D8DCE0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1847088"/>
            <a:ext cx="5532120" cy="512064"/>
          </a:xfrm>
          <a:prstGeom prst="roundRect">
            <a:avLst>
              <a:gd name="adj" fmla="val 7143"/>
            </a:avLst>
          </a:prstGeom>
          <a:solidFill>
            <a:srgbClr val="EDF5F1"/>
          </a:solidFill>
          <a:ln w="12700">
            <a:solidFill>
              <a:srgbClr val="EDF5F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103120"/>
            <a:ext cx="5532120" cy="256032"/>
          </a:xfrm>
          <a:prstGeom prst="rect">
            <a:avLst/>
          </a:prstGeom>
          <a:solidFill>
            <a:srgbClr val="EDF5F1"/>
          </a:solidFill>
          <a:ln w="12700">
            <a:solidFill>
              <a:srgbClr val="EDF5F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" y="1965960"/>
            <a:ext cx="274320" cy="274320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" y="2025396"/>
            <a:ext cx="164592" cy="164592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014984" y="1847088"/>
            <a:ext cx="3703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4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unified_customer</a:t>
            </a:r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golden customer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617720" y="1847088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2.2M docs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02920" y="2359152"/>
            <a:ext cx="5532120" cy="0"/>
          </a:xfrm>
          <a:prstGeom prst="line">
            <a:avLst/>
          </a:prstGeom>
          <a:noFill/>
          <a:ln w="9525">
            <a:solidFill>
              <a:srgbClr val="D8DCE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67512" y="2468880"/>
            <a:ext cx="5221224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B6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MDM_CUSTOMER_ID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64_25071651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B4A34"/>
                </a:solidFill>
                <a:highlight>
                  <a:srgbClr val="DCEFE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"</a:t>
            </a:r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B4A34"/>
                </a:solidFill>
                <a:highlight>
                  <a:srgbClr val="DCEFE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ENTERPRISE_IDS</a:t>
            </a:r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B4A34"/>
                </a:solidFill>
                <a:highlight>
                  <a:srgbClr val="DCEFE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": [{ "</a:t>
            </a:r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B4A34"/>
                </a:solidFill>
                <a:highlight>
                  <a:srgbClr val="DCEFE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ENTERPRISE_ID</a:t>
            </a:r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B4A34"/>
                </a:solidFill>
                <a:highlight>
                  <a:srgbClr val="DCEFE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": "</a:t>
            </a:r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B4A34"/>
                </a:solidFill>
                <a:highlight>
                  <a:srgbClr val="DCEFE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37819045849600513</a:t>
            </a:r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B4A34"/>
                </a:solidFill>
                <a:highlight>
                  <a:srgbClr val="DCEFE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 }],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B6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GENDER_TP_VALUE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Male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 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B6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LANG_TP_VALUE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English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B6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EMAIL_ADDRESSES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[{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B6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EMAIL_ADDRESS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jjuijfj_ioirur67@gmail.com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}],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B6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PHONE_NUMBERS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[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B6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PHONE_NUM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(985) 771-2209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},  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Primary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B6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PHONE_NUM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(933) 647-4112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} ], 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Secondary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B6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IDENTIFIERS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[{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B6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IDENTIFIER_NUM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64a0619261a7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}],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B6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SOURCE_CUSTOMER_IDS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[{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B6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SOURCE_SYSTEM_TP_VALUE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GBAFFINITY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B6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SOURCE_CUSTOMER_NUM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25071651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}],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B6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CORRELATION_ID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E5F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15632583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172200" y="1847088"/>
            <a:ext cx="5532120" cy="3310128"/>
          </a:xfrm>
          <a:prstGeom prst="roundRect">
            <a:avLst>
              <a:gd name="adj" fmla="val 1105"/>
            </a:avLst>
          </a:prstGeom>
          <a:solidFill>
            <a:srgbClr val="FBFCFC"/>
          </a:solidFill>
          <a:ln w="12700">
            <a:solidFill>
              <a:srgbClr val="D8DCE0"/>
            </a:solidFill>
            <a:prstDash val="solid"/>
          </a:ln>
          <a:effectLst>
            <a:outerShdw sx="100000" sy="100000" kx="0" ky="0" algn="bl" rotWithShape="0" blurRad="76200" dist="25400" dir="5400000">
              <a:srgbClr val="9AA0A6">
                <a:alpha val="25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172200" y="1847088"/>
            <a:ext cx="5532120" cy="512064"/>
          </a:xfrm>
          <a:prstGeom prst="roundRect">
            <a:avLst>
              <a:gd name="adj" fmla="val 7143"/>
            </a:avLst>
          </a:prstGeom>
          <a:solidFill>
            <a:srgbClr val="EDF5F1"/>
          </a:solidFill>
          <a:ln w="12700">
            <a:solidFill>
              <a:srgbClr val="EDF5F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172200" y="2103120"/>
            <a:ext cx="5532120" cy="256032"/>
          </a:xfrm>
          <a:prstGeom prst="rect">
            <a:avLst/>
          </a:prstGeom>
          <a:solidFill>
            <a:srgbClr val="EDF5F1"/>
          </a:solidFill>
          <a:ln w="12700">
            <a:solidFill>
              <a:srgbClr val="EDF5F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318504" y="1965960"/>
            <a:ext cx="274320" cy="274320"/>
          </a:xfrm>
          <a:prstGeom prst="ellipse">
            <a:avLst/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7940" y="2025396"/>
            <a:ext cx="164592" cy="164592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684264" y="1847088"/>
            <a:ext cx="3703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4A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mdm_policy</a:t>
            </a:r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policy record</a:t>
            </a:r>
            <a:endParaRPr lang="en-US" sz="1300" dirty="0"/>
          </a:p>
        </p:txBody>
      </p:sp>
      <p:sp>
        <p:nvSpPr>
          <p:cNvPr id="27" name="Text 23"/>
          <p:cNvSpPr/>
          <p:nvPr/>
        </p:nvSpPr>
        <p:spPr>
          <a:xfrm>
            <a:off x="10287000" y="1847088"/>
            <a:ext cx="1280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66K docs</a:t>
            </a:r>
            <a:endParaRPr lang="en-US" sz="950" dirty="0"/>
          </a:p>
        </p:txBody>
      </p:sp>
      <p:sp>
        <p:nvSpPr>
          <p:cNvPr id="28" name="Shape 24"/>
          <p:cNvSpPr/>
          <p:nvPr/>
        </p:nvSpPr>
        <p:spPr>
          <a:xfrm>
            <a:off x="6172200" y="2359152"/>
            <a:ext cx="5532120" cy="0"/>
          </a:xfrm>
          <a:prstGeom prst="line">
            <a:avLst/>
          </a:prstGeom>
          <a:noFill/>
          <a:ln w="9525">
            <a:solidFill>
              <a:srgbClr val="D8DCE0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336792" y="2468880"/>
            <a:ext cx="5221224" cy="2578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B6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MEMBER_ID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16724899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B6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SPONSOR_NUM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0619261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 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B6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SOURCE_POLICY_NUM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0619261_7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B6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PLAN_DIV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 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B6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ISSUE_DT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2026-05-01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B6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SOURCE_SYSTEM_TP_VALUE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GBAFFINITY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B6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POLICY_CUSTOMERS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[{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B6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SOURCE_CUSTOMER_NUM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25071651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B4A34"/>
                </a:solidFill>
                <a:highlight>
                  <a:srgbClr val="DCEFE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  "</a:t>
            </a:r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B4A34"/>
                </a:solidFill>
                <a:highlight>
                  <a:srgbClr val="DCEFE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ENTERPRISE_ID</a:t>
            </a:r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B4A34"/>
                </a:solidFill>
                <a:highlight>
                  <a:srgbClr val="DCEFE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": "</a:t>
            </a:r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B4A34"/>
                </a:solidFill>
                <a:highlight>
                  <a:srgbClr val="DCEFE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37819045849600513</a:t>
            </a:r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B4A34"/>
                </a:solidFill>
                <a:highlight>
                  <a:srgbClr val="DCEFE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",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B6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ROLE_TP_VALUE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",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B6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ROLE_START_DATE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2026-05-01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 },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{ … 2nd customer … } ],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B6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POLICY_PLANS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[ … ], 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B6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POLICY_ADDRESSES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[ … ],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0B6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STATUS_CAT_TP_VALUE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": </a:t>
            </a:r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1E5F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</a:t>
            </a:r>
            <a:endParaRPr lang="en-US" sz="95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30" name="Text 26"/>
          <p:cNvSpPr/>
          <p:nvPr/>
        </p:nvSpPr>
        <p:spPr>
          <a:xfrm>
            <a:off x="502920" y="5285232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B4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thread — payload keys, linked across collections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6400800" y="5303520"/>
            <a:ext cx="5303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GBAFFINITY (64)   ·   ETL 2026-07-27 13:50 UTC   ·   Non-Unification Path</a:t>
            </a:r>
            <a:endParaRPr lang="en-US" sz="850" dirty="0"/>
          </a:p>
        </p:txBody>
      </p:sp>
      <p:sp>
        <p:nvSpPr>
          <p:cNvPr id="32" name="Shape 28"/>
          <p:cNvSpPr/>
          <p:nvPr/>
        </p:nvSpPr>
        <p:spPr>
          <a:xfrm>
            <a:off x="502920" y="5614416"/>
            <a:ext cx="2514600" cy="585216"/>
          </a:xfrm>
          <a:prstGeom prst="roundRect">
            <a:avLst>
              <a:gd name="adj" fmla="val 9375"/>
            </a:avLst>
          </a:prstGeom>
          <a:solidFill>
            <a:srgbClr val="EEF1F3"/>
          </a:solidFill>
          <a:ln w="12700">
            <a:solidFill>
              <a:srgbClr val="D8DCE0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594360" y="5614416"/>
            <a:ext cx="2331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MEMBER_ID  (mdm_policy)</a:t>
            </a:r>
            <a:endParaRPr lang="en-US" sz="75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16724899</a:t>
            </a:r>
            <a:endParaRPr lang="en-US" sz="750" dirty="0"/>
          </a:p>
        </p:txBody>
      </p:sp>
      <p:sp>
        <p:nvSpPr>
          <p:cNvPr id="34" name="Text 30"/>
          <p:cNvSpPr/>
          <p:nvPr/>
        </p:nvSpPr>
        <p:spPr>
          <a:xfrm>
            <a:off x="3017520" y="5614416"/>
            <a:ext cx="365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8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5" name="Shape 31"/>
          <p:cNvSpPr/>
          <p:nvPr/>
        </p:nvSpPr>
        <p:spPr>
          <a:xfrm>
            <a:off x="3383280" y="5614416"/>
            <a:ext cx="2514600" cy="585216"/>
          </a:xfrm>
          <a:prstGeom prst="roundRect">
            <a:avLst>
              <a:gd name="adj" fmla="val 9375"/>
            </a:avLst>
          </a:prstGeom>
          <a:solidFill>
            <a:srgbClr val="00875A"/>
          </a:solidFill>
          <a:ln w="12700">
            <a:solidFill>
              <a:srgbClr val="00875A"/>
            </a:solidFill>
            <a:prstDash val="solid"/>
          </a:ln>
          <a:effectLst>
            <a:outerShdw sx="100000" sy="100000" kx="0" ky="0" algn="bl" rotWithShape="0" blurRad="63500" dist="25400" dir="5400000">
              <a:srgbClr val="6B7280">
                <a:alpha val="30000"/>
              </a:srgbClr>
            </a:outerShdw>
          </a:effectLst>
        </p:spPr>
      </p:sp>
      <p:sp>
        <p:nvSpPr>
          <p:cNvPr id="36" name="Text 32"/>
          <p:cNvSpPr/>
          <p:nvPr/>
        </p:nvSpPr>
        <p:spPr>
          <a:xfrm>
            <a:off x="3474720" y="5614416"/>
            <a:ext cx="2331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D8F0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ENTERPRISE_ID  (join key)</a:t>
            </a:r>
            <a:endParaRPr lang="en-US" sz="75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37819045849600513</a:t>
            </a:r>
            <a:endParaRPr lang="en-US" sz="750" dirty="0"/>
          </a:p>
        </p:txBody>
      </p:sp>
      <p:sp>
        <p:nvSpPr>
          <p:cNvPr id="37" name="Text 33"/>
          <p:cNvSpPr/>
          <p:nvPr/>
        </p:nvSpPr>
        <p:spPr>
          <a:xfrm>
            <a:off x="5897880" y="5614416"/>
            <a:ext cx="365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8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38" name="Shape 34"/>
          <p:cNvSpPr/>
          <p:nvPr/>
        </p:nvSpPr>
        <p:spPr>
          <a:xfrm>
            <a:off x="6263640" y="5614416"/>
            <a:ext cx="2514600" cy="585216"/>
          </a:xfrm>
          <a:prstGeom prst="roundRect">
            <a:avLst>
              <a:gd name="adj" fmla="val 9375"/>
            </a:avLst>
          </a:prstGeom>
          <a:solidFill>
            <a:srgbClr val="EEF1F3"/>
          </a:solidFill>
          <a:ln w="12700">
            <a:solidFill>
              <a:srgbClr val="D8DCE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355080" y="5614416"/>
            <a:ext cx="2331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MDM_CUSTOMER_ID  (unified)</a:t>
            </a:r>
            <a:endParaRPr lang="en-US" sz="75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64_25071651</a:t>
            </a:r>
            <a:endParaRPr lang="en-US" sz="750" dirty="0"/>
          </a:p>
        </p:txBody>
      </p:sp>
      <p:sp>
        <p:nvSpPr>
          <p:cNvPr id="40" name="Text 36"/>
          <p:cNvSpPr/>
          <p:nvPr/>
        </p:nvSpPr>
        <p:spPr>
          <a:xfrm>
            <a:off x="8778240" y="5614416"/>
            <a:ext cx="3657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87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41" name="Shape 37"/>
          <p:cNvSpPr/>
          <p:nvPr/>
        </p:nvSpPr>
        <p:spPr>
          <a:xfrm>
            <a:off x="9144000" y="5614416"/>
            <a:ext cx="2514600" cy="585216"/>
          </a:xfrm>
          <a:prstGeom prst="roundRect">
            <a:avLst>
              <a:gd name="adj" fmla="val 9375"/>
            </a:avLst>
          </a:prstGeom>
          <a:solidFill>
            <a:srgbClr val="EEF1F3"/>
          </a:solidFill>
          <a:ln w="12700">
            <a:solidFill>
              <a:srgbClr val="D8DCE0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9235440" y="5614416"/>
            <a:ext cx="2331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/ POLICY</a:t>
            </a:r>
            <a:endParaRPr lang="en-US" sz="75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0619261</a:t>
            </a:r>
            <a:endParaRPr lang="en-US" sz="750" dirty="0"/>
          </a:p>
        </p:txBody>
      </p:sp>
      <p:sp>
        <p:nvSpPr>
          <p:cNvPr id="43" name="Text 39"/>
          <p:cNvSpPr/>
          <p:nvPr/>
        </p:nvSpPr>
        <p:spPr>
          <a:xfrm>
            <a:off x="502920" y="651052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8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|||  Manulife</a:t>
            </a:r>
            <a:endParaRPr lang="en-US" sz="1100" dirty="0"/>
          </a:p>
        </p:txBody>
      </p:sp>
      <p:sp>
        <p:nvSpPr>
          <p:cNvPr id="44" name="Text 40"/>
          <p:cNvSpPr/>
          <p:nvPr/>
        </p:nvSpPr>
        <p:spPr>
          <a:xfrm>
            <a:off x="4709160" y="652881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2026-07-27T21:15:48Z</dcterms:created>
  <dcterms:modified xsi:type="dcterms:W3CDTF">2026-07-27T21:15:48Z</dcterms:modified>
</cp:coreProperties>
</file>